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8229600" cx="14630400"/>
  <p:notesSz cx="8229600" cy="14630400"/>
  <p:embeddedFontLst>
    <p:embeddedFont>
      <p:font typeface="Roboto Slab"/>
      <p:regular r:id="rId24"/>
      <p:bold r:id="rId25"/>
    </p:embeddedFon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obotoSlab-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font" Target="fonts/RobotoSlab-bold.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3" name="Google Shape;25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ce2ffadd6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ce2ffadd6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g3ce2ffadd6d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11"/>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1"/>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sp>
        <p:nvSpPr>
          <p:cNvPr id="41" name="Google Shape;41;p12"/>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2"/>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sp>
        <p:nvSpPr>
          <p:cNvPr id="44" name="Google Shape;44;p13"/>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3"/>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6" name="Shape 46"/>
        <p:cNvGrpSpPr/>
        <p:nvPr/>
      </p:nvGrpSpPr>
      <p:grpSpPr>
        <a:xfrm>
          <a:off x="0" y="0"/>
          <a:ext cx="0" cy="0"/>
          <a:chOff x="0" y="0"/>
          <a:chExt cx="0" cy="0"/>
        </a:xfrm>
      </p:grpSpPr>
      <p:sp>
        <p:nvSpPr>
          <p:cNvPr id="47" name="Google Shape;47;p14"/>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4"/>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9" name="Shape 49"/>
        <p:cNvGrpSpPr/>
        <p:nvPr/>
      </p:nvGrpSpPr>
      <p:grpSpPr>
        <a:xfrm>
          <a:off x="0" y="0"/>
          <a:ext cx="0" cy="0"/>
          <a:chOff x="0" y="0"/>
          <a:chExt cx="0" cy="0"/>
        </a:xfrm>
      </p:grpSpPr>
      <p:sp>
        <p:nvSpPr>
          <p:cNvPr id="50" name="Google Shape;50;p15"/>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5"/>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2" name="Shape 52"/>
        <p:cNvGrpSpPr/>
        <p:nvPr/>
      </p:nvGrpSpPr>
      <p:grpSpPr>
        <a:xfrm>
          <a:off x="0" y="0"/>
          <a:ext cx="0" cy="0"/>
          <a:chOff x="0" y="0"/>
          <a:chExt cx="0" cy="0"/>
        </a:xfrm>
      </p:grpSpPr>
      <p:sp>
        <p:nvSpPr>
          <p:cNvPr id="53" name="Google Shape;53;p16"/>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6"/>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55" name="Shape 55"/>
        <p:cNvGrpSpPr/>
        <p:nvPr/>
      </p:nvGrpSpPr>
      <p:grpSpPr>
        <a:xfrm>
          <a:off x="0" y="0"/>
          <a:ext cx="0" cy="0"/>
          <a:chOff x="0" y="0"/>
          <a:chExt cx="0" cy="0"/>
        </a:xfrm>
      </p:grpSpPr>
      <p:sp>
        <p:nvSpPr>
          <p:cNvPr id="56" name="Google Shape;56;p17"/>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7"/>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58" name="Shape 58"/>
        <p:cNvGrpSpPr/>
        <p:nvPr/>
      </p:nvGrpSpPr>
      <p:grpSpPr>
        <a:xfrm>
          <a:off x="0" y="0"/>
          <a:ext cx="0" cy="0"/>
          <a:chOff x="0" y="0"/>
          <a:chExt cx="0" cy="0"/>
        </a:xfrm>
      </p:grpSpPr>
      <p:sp>
        <p:nvSpPr>
          <p:cNvPr id="59" name="Google Shape;59;p18"/>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8"/>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61" name="Shape 61"/>
        <p:cNvGrpSpPr/>
        <p:nvPr/>
      </p:nvGrpSpPr>
      <p:grpSpPr>
        <a:xfrm>
          <a:off x="0" y="0"/>
          <a:ext cx="0" cy="0"/>
          <a:chOff x="0" y="0"/>
          <a:chExt cx="0" cy="0"/>
        </a:xfrm>
      </p:grpSpPr>
      <p:sp>
        <p:nvSpPr>
          <p:cNvPr id="62" name="Google Shape;62;p19"/>
          <p:cNvSpPr/>
          <p:nvPr/>
        </p:nvSpPr>
        <p:spPr>
          <a:xfrm>
            <a:off x="0" y="0"/>
            <a:ext cx="14630400" cy="8229600"/>
          </a:xfrm>
          <a:prstGeom prst="rect">
            <a:avLst/>
          </a:prstGeom>
          <a:solidFill>
            <a:srgbClr val="171B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9"/>
          <p:cNvSpPr/>
          <p:nvPr/>
        </p:nvSpPr>
        <p:spPr>
          <a:xfrm>
            <a:off x="0" y="0"/>
            <a:ext cx="14630400" cy="8229600"/>
          </a:xfrm>
          <a:prstGeom prst="rect">
            <a:avLst/>
          </a:prstGeom>
          <a:solidFill>
            <a:srgbClr val="2027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4" name="Shape 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 Id="rId4" Type="http://schemas.openxmlformats.org/officeDocument/2006/relationships/image" Target="../media/image16.png"/><Relationship Id="rId5" Type="http://schemas.openxmlformats.org/officeDocument/2006/relationships/image" Target="../media/image10.png"/><Relationship Id="rId6"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34.pn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image" Target="../media/image32.png"/><Relationship Id="rId7"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descr="preencoded.png" id="70" name="Google Shape;70;p2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71" name="Google Shape;71;p21"/>
          <p:cNvSpPr/>
          <p:nvPr/>
        </p:nvSpPr>
        <p:spPr>
          <a:xfrm>
            <a:off x="631746" y="1346597"/>
            <a:ext cx="6903839" cy="493633"/>
          </a:xfrm>
          <a:prstGeom prst="rect">
            <a:avLst/>
          </a:prstGeom>
          <a:noFill/>
          <a:ln>
            <a:noFill/>
          </a:ln>
        </p:spPr>
        <p:txBody>
          <a:bodyPr anchorCtr="0" anchor="t" bIns="0" lIns="0" spcFirstLastPara="1" rIns="0" wrap="square" tIns="0">
            <a:noAutofit/>
          </a:bodyPr>
          <a:lstStyle/>
          <a:p>
            <a:pPr indent="0" lvl="0" marL="0" marR="0" rtl="0" algn="l">
              <a:lnSpc>
                <a:spcPct val="124193"/>
              </a:lnSpc>
              <a:spcBef>
                <a:spcPts val="0"/>
              </a:spcBef>
              <a:spcAft>
                <a:spcPts val="0"/>
              </a:spcAft>
              <a:buClr>
                <a:srgbClr val="76B9FF"/>
              </a:buClr>
              <a:buSzPts val="3100"/>
              <a:buFont typeface="Roboto Slab"/>
              <a:buNone/>
            </a:pPr>
            <a:r>
              <a:rPr b="0" i="0" lang="en-US" sz="3100" u="none" cap="none" strike="noStrike">
                <a:solidFill>
                  <a:srgbClr val="76B9FF"/>
                </a:solidFill>
                <a:latin typeface="Roboto Slab"/>
                <a:ea typeface="Roboto Slab"/>
                <a:cs typeface="Roboto Slab"/>
                <a:sym typeface="Roboto Slab"/>
              </a:rPr>
              <a:t>¿Qué es el IoT (Internet de las Cosas)?</a:t>
            </a:r>
            <a:endParaRPr b="0" i="0" sz="3100" u="none" cap="none" strike="noStrike"/>
          </a:p>
        </p:txBody>
      </p:sp>
      <p:sp>
        <p:nvSpPr>
          <p:cNvPr id="72" name="Google Shape;72;p21"/>
          <p:cNvSpPr/>
          <p:nvPr/>
        </p:nvSpPr>
        <p:spPr>
          <a:xfrm>
            <a:off x="631746" y="2028706"/>
            <a:ext cx="7880509" cy="680799"/>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D6E5EF"/>
              </a:buClr>
              <a:buSzPts val="1200"/>
              <a:buFont typeface="Roboto"/>
              <a:buNone/>
            </a:pPr>
            <a:r>
              <a:rPr b="0" i="0" lang="en-US" sz="1200" u="none" cap="none" strike="noStrike">
                <a:solidFill>
                  <a:srgbClr val="D6E5EF"/>
                </a:solidFill>
                <a:latin typeface="Roboto"/>
                <a:ea typeface="Roboto"/>
                <a:cs typeface="Roboto"/>
                <a:sym typeface="Roboto"/>
              </a:rPr>
              <a:t>El Internet de las Cosas (IoT) es una red masiva de dispositivos físicos interconectados que recopilan e intercambian datos a través de internet. Desde sensores diminutos hasta maquinaria compleja, esta tecnología revoluciona nuestra interacción con el mundo.</a:t>
            </a:r>
            <a:endParaRPr b="0" i="0" sz="1200" u="none" cap="none" strike="noStrike"/>
          </a:p>
        </p:txBody>
      </p:sp>
      <p:pic>
        <p:nvPicPr>
          <p:cNvPr descr="preencoded.png" id="73" name="Google Shape;73;p21"/>
          <p:cNvPicPr preferRelativeResize="0"/>
          <p:nvPr/>
        </p:nvPicPr>
        <p:blipFill rotWithShape="1">
          <a:blip r:embed="rId4">
            <a:alphaModFix/>
          </a:blip>
          <a:srcRect b="0" l="0" r="0" t="0"/>
          <a:stretch/>
        </p:blipFill>
        <p:spPr>
          <a:xfrm>
            <a:off x="631746" y="2850833"/>
            <a:ext cx="394811" cy="394811"/>
          </a:xfrm>
          <a:prstGeom prst="rect">
            <a:avLst/>
          </a:prstGeom>
          <a:noFill/>
          <a:ln>
            <a:noFill/>
          </a:ln>
        </p:spPr>
      </p:pic>
      <p:sp>
        <p:nvSpPr>
          <p:cNvPr id="74" name="Google Shape;74;p21"/>
          <p:cNvSpPr/>
          <p:nvPr/>
        </p:nvSpPr>
        <p:spPr>
          <a:xfrm>
            <a:off x="631746" y="3402687"/>
            <a:ext cx="2256711" cy="246698"/>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D6E5EF"/>
              </a:buClr>
              <a:buSzPts val="1550"/>
              <a:buFont typeface="Roboto Slab"/>
              <a:buNone/>
            </a:pPr>
            <a:r>
              <a:rPr b="0" i="0" lang="en-US" sz="1550" u="none" cap="none" strike="noStrike">
                <a:solidFill>
                  <a:srgbClr val="D6E5EF"/>
                </a:solidFill>
                <a:latin typeface="Roboto Slab"/>
                <a:ea typeface="Roboto Slab"/>
                <a:cs typeface="Roboto Slab"/>
                <a:sym typeface="Roboto Slab"/>
              </a:rPr>
              <a:t>Dispositivos Conectados</a:t>
            </a:r>
            <a:endParaRPr b="0" i="0" sz="1550" u="none" cap="none" strike="noStrike"/>
          </a:p>
        </p:txBody>
      </p:sp>
      <p:sp>
        <p:nvSpPr>
          <p:cNvPr id="75" name="Google Shape;75;p21"/>
          <p:cNvSpPr/>
          <p:nvPr/>
        </p:nvSpPr>
        <p:spPr>
          <a:xfrm>
            <a:off x="631746" y="3724751"/>
            <a:ext cx="7880509" cy="226933"/>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D6E5EF"/>
              </a:buClr>
              <a:buSzPts val="1200"/>
              <a:buFont typeface="Roboto"/>
              <a:buNone/>
            </a:pPr>
            <a:r>
              <a:rPr b="0" i="0" lang="en-US" sz="1200" u="none" cap="none" strike="noStrike">
                <a:solidFill>
                  <a:srgbClr val="D6E5EF"/>
                </a:solidFill>
                <a:latin typeface="Roboto"/>
                <a:ea typeface="Roboto"/>
                <a:cs typeface="Roboto"/>
                <a:sym typeface="Roboto"/>
              </a:rPr>
              <a:t>Incluye sensores, actuadores, electrodomésticos y equipos industriales que se comunican de forma autónoma.</a:t>
            </a:r>
            <a:endParaRPr b="0" i="0" sz="1200" u="none" cap="none" strike="noStrike"/>
          </a:p>
        </p:txBody>
      </p:sp>
      <p:pic>
        <p:nvPicPr>
          <p:cNvPr descr="preencoded.png" id="76" name="Google Shape;76;p21"/>
          <p:cNvPicPr preferRelativeResize="0"/>
          <p:nvPr/>
        </p:nvPicPr>
        <p:blipFill rotWithShape="1">
          <a:blip r:embed="rId5">
            <a:alphaModFix/>
          </a:blip>
          <a:srcRect b="0" l="0" r="0" t="0"/>
          <a:stretch/>
        </p:blipFill>
        <p:spPr>
          <a:xfrm>
            <a:off x="631746" y="4203025"/>
            <a:ext cx="394811" cy="394811"/>
          </a:xfrm>
          <a:prstGeom prst="rect">
            <a:avLst/>
          </a:prstGeom>
          <a:noFill/>
          <a:ln>
            <a:noFill/>
          </a:ln>
        </p:spPr>
      </p:pic>
      <p:sp>
        <p:nvSpPr>
          <p:cNvPr id="77" name="Google Shape;77;p21"/>
          <p:cNvSpPr/>
          <p:nvPr/>
        </p:nvSpPr>
        <p:spPr>
          <a:xfrm>
            <a:off x="631746" y="4754880"/>
            <a:ext cx="2213015" cy="246698"/>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D6E5EF"/>
              </a:buClr>
              <a:buSzPts val="1550"/>
              <a:buFont typeface="Roboto Slab"/>
              <a:buNone/>
            </a:pPr>
            <a:r>
              <a:rPr b="0" i="0" lang="en-US" sz="1550" u="none" cap="none" strike="noStrike">
                <a:solidFill>
                  <a:srgbClr val="D6E5EF"/>
                </a:solidFill>
                <a:latin typeface="Roboto Slab"/>
                <a:ea typeface="Roboto Slab"/>
                <a:cs typeface="Roboto Slab"/>
                <a:sym typeface="Roboto Slab"/>
              </a:rPr>
              <a:t>Flujo y Gestión de Datos</a:t>
            </a:r>
            <a:endParaRPr b="0" i="0" sz="1550" u="none" cap="none" strike="noStrike"/>
          </a:p>
        </p:txBody>
      </p:sp>
      <p:sp>
        <p:nvSpPr>
          <p:cNvPr id="78" name="Google Shape;78;p21"/>
          <p:cNvSpPr/>
          <p:nvPr/>
        </p:nvSpPr>
        <p:spPr>
          <a:xfrm>
            <a:off x="631746" y="5076944"/>
            <a:ext cx="7880509" cy="453866"/>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D6E5EF"/>
              </a:buClr>
              <a:buSzPts val="1200"/>
              <a:buFont typeface="Roboto"/>
              <a:buNone/>
            </a:pPr>
            <a:r>
              <a:rPr b="0" i="0" lang="en-US" sz="1200" u="none" cap="none" strike="noStrike">
                <a:solidFill>
                  <a:srgbClr val="D6E5EF"/>
                </a:solidFill>
                <a:latin typeface="Roboto"/>
                <a:ea typeface="Roboto"/>
                <a:cs typeface="Roboto"/>
                <a:sym typeface="Roboto"/>
              </a:rPr>
              <a:t>Recopila datos para optimizar procesos, predecir necesidades y automatizar tareas. Requiere protocolos y herramientas robustas.</a:t>
            </a:r>
            <a:endParaRPr b="0" i="0" sz="1200" u="none" cap="none" strike="noStrike"/>
          </a:p>
        </p:txBody>
      </p:sp>
      <p:pic>
        <p:nvPicPr>
          <p:cNvPr descr="preencoded.png" id="79" name="Google Shape;79;p21"/>
          <p:cNvPicPr preferRelativeResize="0"/>
          <p:nvPr/>
        </p:nvPicPr>
        <p:blipFill rotWithShape="1">
          <a:blip r:embed="rId6">
            <a:alphaModFix/>
          </a:blip>
          <a:srcRect b="0" l="0" r="0" t="0"/>
          <a:stretch/>
        </p:blipFill>
        <p:spPr>
          <a:xfrm>
            <a:off x="631746" y="5782151"/>
            <a:ext cx="394811" cy="394811"/>
          </a:xfrm>
          <a:prstGeom prst="rect">
            <a:avLst/>
          </a:prstGeom>
          <a:noFill/>
          <a:ln>
            <a:noFill/>
          </a:ln>
        </p:spPr>
      </p:pic>
      <p:sp>
        <p:nvSpPr>
          <p:cNvPr id="80" name="Google Shape;80;p21"/>
          <p:cNvSpPr/>
          <p:nvPr/>
        </p:nvSpPr>
        <p:spPr>
          <a:xfrm>
            <a:off x="631746" y="6334006"/>
            <a:ext cx="1974413" cy="246698"/>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D6E5EF"/>
              </a:buClr>
              <a:buSzPts val="1550"/>
              <a:buFont typeface="Roboto Slab"/>
              <a:buNone/>
            </a:pPr>
            <a:r>
              <a:rPr b="0" i="0" lang="en-US" sz="1550" u="none" cap="none" strike="noStrike">
                <a:solidFill>
                  <a:srgbClr val="D6E5EF"/>
                </a:solidFill>
                <a:latin typeface="Roboto Slab"/>
                <a:ea typeface="Roboto Slab"/>
                <a:cs typeface="Roboto Slab"/>
                <a:sym typeface="Roboto Slab"/>
              </a:rPr>
              <a:t>Aplicaciones Reales</a:t>
            </a:r>
            <a:endParaRPr b="0" i="0" sz="1550" u="none" cap="none" strike="noStrike"/>
          </a:p>
        </p:txBody>
      </p:sp>
      <p:sp>
        <p:nvSpPr>
          <p:cNvPr id="81" name="Google Shape;81;p21"/>
          <p:cNvSpPr/>
          <p:nvPr/>
        </p:nvSpPr>
        <p:spPr>
          <a:xfrm>
            <a:off x="631746" y="6656070"/>
            <a:ext cx="7880509" cy="226933"/>
          </a:xfrm>
          <a:prstGeom prst="rect">
            <a:avLst/>
          </a:prstGeom>
          <a:noFill/>
          <a:ln>
            <a:noFill/>
          </a:ln>
        </p:spPr>
        <p:txBody>
          <a:bodyPr anchorCtr="0" anchor="t" bIns="0" lIns="0" spcFirstLastPara="1" rIns="0" wrap="square" tIns="0">
            <a:noAutofit/>
          </a:bodyPr>
          <a:lstStyle/>
          <a:p>
            <a:pPr indent="0" lvl="0" marL="0" marR="0" rtl="0" algn="l">
              <a:lnSpc>
                <a:spcPct val="145833"/>
              </a:lnSpc>
              <a:spcBef>
                <a:spcPts val="0"/>
              </a:spcBef>
              <a:spcAft>
                <a:spcPts val="0"/>
              </a:spcAft>
              <a:buClr>
                <a:srgbClr val="D6E5EF"/>
              </a:buClr>
              <a:buSzPts val="1200"/>
              <a:buFont typeface="Roboto"/>
              <a:buNone/>
            </a:pPr>
            <a:r>
              <a:rPr b="0" i="0" lang="en-US" sz="1200" u="none" cap="none" strike="noStrike">
                <a:solidFill>
                  <a:srgbClr val="D6E5EF"/>
                </a:solidFill>
                <a:latin typeface="Roboto"/>
                <a:ea typeface="Roboto"/>
                <a:cs typeface="Roboto"/>
                <a:sym typeface="Roboto"/>
              </a:rPr>
              <a:t>Impulsa hogares inteligentes, la Industria 4.0, ciudades eficientes y sistemas de salud más conectados.</a:t>
            </a:r>
            <a:endParaRPr b="0" i="0" sz="12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2"/>
          <p:cNvSpPr/>
          <p:nvPr/>
        </p:nvSpPr>
        <p:spPr>
          <a:xfrm>
            <a:off x="738075" y="1020125"/>
            <a:ext cx="13028400" cy="521400"/>
          </a:xfrm>
          <a:prstGeom prst="rect">
            <a:avLst/>
          </a:prstGeom>
          <a:noFill/>
          <a:ln>
            <a:noFill/>
          </a:ln>
        </p:spPr>
        <p:txBody>
          <a:bodyPr anchorCtr="0" anchor="t" bIns="0" lIns="0" spcFirstLastPara="1" rIns="0" wrap="square" tIns="0">
            <a:noAutofit/>
          </a:bodyPr>
          <a:lstStyle/>
          <a:p>
            <a:pPr indent="0" lvl="0" marL="0" marR="0" rtl="0" algn="l">
              <a:lnSpc>
                <a:spcPct val="126153"/>
              </a:lnSpc>
              <a:spcBef>
                <a:spcPts val="0"/>
              </a:spcBef>
              <a:spcAft>
                <a:spcPts val="0"/>
              </a:spcAft>
              <a:buClr>
                <a:srgbClr val="76B9FF"/>
              </a:buClr>
              <a:buSzPts val="3250"/>
              <a:buFont typeface="Roboto Slab"/>
              <a:buNone/>
            </a:pPr>
            <a:r>
              <a:rPr b="0" i="0" lang="en-US" sz="3250" u="none" cap="none" strike="noStrike">
                <a:solidFill>
                  <a:srgbClr val="76B9FF"/>
                </a:solidFill>
                <a:latin typeface="Roboto Slab"/>
                <a:ea typeface="Roboto Slab"/>
                <a:cs typeface="Roboto Slab"/>
                <a:sym typeface="Roboto Slab"/>
              </a:rPr>
              <a:t>Node-RED y MQTT: </a:t>
            </a:r>
            <a:r>
              <a:rPr lang="en-US" sz="3250">
                <a:solidFill>
                  <a:srgbClr val="76B9FF"/>
                </a:solidFill>
                <a:latin typeface="Roboto Slab"/>
                <a:ea typeface="Roboto Slab"/>
                <a:cs typeface="Roboto Slab"/>
                <a:sym typeface="Roboto Slab"/>
              </a:rPr>
              <a:t>Herramientas</a:t>
            </a:r>
            <a:r>
              <a:rPr b="0" i="0" lang="en-US" sz="3250" u="none" cap="none" strike="noStrike">
                <a:solidFill>
                  <a:srgbClr val="76B9FF"/>
                </a:solidFill>
                <a:latin typeface="Roboto Slab"/>
                <a:ea typeface="Roboto Slab"/>
                <a:cs typeface="Roboto Slab"/>
                <a:sym typeface="Roboto Slab"/>
              </a:rPr>
              <a:t>para el IoT</a:t>
            </a:r>
            <a:endParaRPr b="0" i="0" sz="3250" u="none" cap="none" strike="noStrike"/>
          </a:p>
        </p:txBody>
      </p:sp>
      <p:sp>
        <p:nvSpPr>
          <p:cNvPr id="88" name="Google Shape;88;p22"/>
          <p:cNvSpPr/>
          <p:nvPr/>
        </p:nvSpPr>
        <p:spPr>
          <a:xfrm>
            <a:off x="738068" y="1821775"/>
            <a:ext cx="13154144" cy="491014"/>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Para construir soluciones IoT robustas y escalables, es fundamental elegir las herramientas adecuadas. Node-RED y MQTT se han establecido como </a:t>
            </a:r>
            <a:r>
              <a:rPr lang="en-US" sz="1300">
                <a:solidFill>
                  <a:srgbClr val="D6E5EF"/>
                </a:solidFill>
                <a:latin typeface="Roboto"/>
                <a:ea typeface="Roboto"/>
                <a:cs typeface="Roboto"/>
                <a:sym typeface="Roboto"/>
              </a:rPr>
              <a:t>herramientas </a:t>
            </a:r>
            <a:r>
              <a:rPr b="0" i="0" lang="en-US" sz="1300" u="none" cap="none" strike="noStrike">
                <a:solidFill>
                  <a:srgbClr val="D6E5EF"/>
                </a:solidFill>
                <a:latin typeface="Roboto"/>
                <a:ea typeface="Roboto"/>
                <a:cs typeface="Roboto"/>
                <a:sym typeface="Roboto"/>
              </a:rPr>
              <a:t>en este ecosistema, ofreciendo una combinación potente para la gestión eficiente de datos.</a:t>
            </a:r>
            <a:endParaRPr b="0" i="0" sz="1300" u="none" cap="none" strike="noStrike"/>
          </a:p>
        </p:txBody>
      </p:sp>
      <p:sp>
        <p:nvSpPr>
          <p:cNvPr id="89" name="Google Shape;89;p22"/>
          <p:cNvSpPr/>
          <p:nvPr/>
        </p:nvSpPr>
        <p:spPr>
          <a:xfrm>
            <a:off x="738068" y="2610564"/>
            <a:ext cx="3226237" cy="260509"/>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76B9FF"/>
              </a:buClr>
              <a:buSzPts val="1600"/>
              <a:buFont typeface="Roboto Slab"/>
              <a:buNone/>
            </a:pPr>
            <a:r>
              <a:rPr b="0" i="0" lang="en-US" sz="1600" u="none" cap="none" strike="noStrike">
                <a:solidFill>
                  <a:srgbClr val="76B9FF"/>
                </a:solidFill>
                <a:latin typeface="Roboto Slab"/>
                <a:ea typeface="Roboto Slab"/>
                <a:cs typeface="Roboto Slab"/>
                <a:sym typeface="Roboto Slab"/>
              </a:rPr>
              <a:t>Node-RED: El Orquestador Visual</a:t>
            </a:r>
            <a:endParaRPr b="0" i="0" sz="1600" u="none" cap="none" strike="noStrike"/>
          </a:p>
        </p:txBody>
      </p:sp>
      <p:sp>
        <p:nvSpPr>
          <p:cNvPr id="90" name="Google Shape;90;p22"/>
          <p:cNvSpPr/>
          <p:nvPr/>
        </p:nvSpPr>
        <p:spPr>
          <a:xfrm>
            <a:off x="738068" y="3011210"/>
            <a:ext cx="6373535" cy="982028"/>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Node-RED es una herramienta de programación visual basada en flujos, diseñada para conectar dispositivos, servicios y APIs en el Internet de las Cosas. Su interfaz de arrastrar y soltar permite crear lógicas complejas sin necesidad de escribir código extenso, facilitando la integración y automatización de procesos IoT.</a:t>
            </a:r>
            <a:endParaRPr b="0" i="0" sz="1300" u="none" cap="none" strike="noStrike"/>
          </a:p>
        </p:txBody>
      </p:sp>
      <p:sp>
        <p:nvSpPr>
          <p:cNvPr id="91" name="Google Shape;91;p22"/>
          <p:cNvSpPr/>
          <p:nvPr/>
        </p:nvSpPr>
        <p:spPr>
          <a:xfrm>
            <a:off x="7526179" y="2610564"/>
            <a:ext cx="3989427" cy="260509"/>
          </a:xfrm>
          <a:prstGeom prst="rect">
            <a:avLst/>
          </a:prstGeom>
          <a:noFill/>
          <a:ln>
            <a:noFill/>
          </a:ln>
        </p:spPr>
        <p:txBody>
          <a:bodyPr anchorCtr="0" anchor="t" bIns="0" lIns="0" spcFirstLastPara="1" rIns="0" wrap="square" tIns="0">
            <a:noAutofit/>
          </a:bodyPr>
          <a:lstStyle/>
          <a:p>
            <a:pPr indent="0" lvl="0" marL="0" marR="0" rtl="0" algn="l">
              <a:lnSpc>
                <a:spcPct val="128125"/>
              </a:lnSpc>
              <a:spcBef>
                <a:spcPts val="0"/>
              </a:spcBef>
              <a:spcAft>
                <a:spcPts val="0"/>
              </a:spcAft>
              <a:buClr>
                <a:srgbClr val="76B9FF"/>
              </a:buClr>
              <a:buSzPts val="1600"/>
              <a:buFont typeface="Roboto Slab"/>
              <a:buNone/>
            </a:pPr>
            <a:r>
              <a:rPr b="0" i="0" lang="en-US" sz="1600" u="none" cap="none" strike="noStrike">
                <a:solidFill>
                  <a:srgbClr val="76B9FF"/>
                </a:solidFill>
                <a:latin typeface="Roboto Slab"/>
                <a:ea typeface="Roboto Slab"/>
                <a:cs typeface="Roboto Slab"/>
                <a:sym typeface="Roboto Slab"/>
              </a:rPr>
              <a:t>MQTT: El Protocolo Ligero de Mensajería</a:t>
            </a:r>
            <a:endParaRPr b="0" i="0" sz="1600" u="none" cap="none" strike="noStrike"/>
          </a:p>
        </p:txBody>
      </p:sp>
      <p:sp>
        <p:nvSpPr>
          <p:cNvPr id="92" name="Google Shape;92;p22"/>
          <p:cNvSpPr/>
          <p:nvPr/>
        </p:nvSpPr>
        <p:spPr>
          <a:xfrm>
            <a:off x="7526179" y="3011210"/>
            <a:ext cx="6373535" cy="1227534"/>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MQTT (Message Queuing Telemetry Transport) es un protocolo de mensajería ligero, ideal para dispositivos con recursos limitados y redes con ancho de banda restringido. Opera bajo un modelo publicador/suscriptor (pub/sub) con un broker central, lo que permite una comunicación eficiente y desparejada entre millones de dispositivos.</a:t>
            </a:r>
            <a:endParaRPr b="0" i="0" sz="1300" u="none" cap="none" strike="noStrike"/>
          </a:p>
        </p:txBody>
      </p:sp>
      <p:sp>
        <p:nvSpPr>
          <p:cNvPr id="93" name="Google Shape;93;p22"/>
          <p:cNvSpPr/>
          <p:nvPr/>
        </p:nvSpPr>
        <p:spPr>
          <a:xfrm>
            <a:off x="7526179" y="4364831"/>
            <a:ext cx="6373535" cy="1325642"/>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Modelo </a:t>
            </a:r>
            <a:r>
              <a:rPr b="1" i="0" lang="en-US" sz="1300" u="none" cap="none" strike="noStrike">
                <a:solidFill>
                  <a:srgbClr val="D6E5EF"/>
                </a:solidFill>
                <a:latin typeface="Roboto"/>
                <a:ea typeface="Roboto"/>
                <a:cs typeface="Roboto"/>
                <a:sym typeface="Roboto"/>
              </a:rPr>
              <a:t>Publicador/Suscriptor (Pub/Sub)</a:t>
            </a:r>
            <a:r>
              <a:rPr b="0" i="0" lang="en-US" sz="1300" u="none" cap="none" strike="noStrike">
                <a:solidFill>
                  <a:srgbClr val="D6E5EF"/>
                </a:solidFill>
                <a:latin typeface="Roboto"/>
                <a:ea typeface="Roboto"/>
                <a:cs typeface="Roboto"/>
                <a:sym typeface="Roboto"/>
              </a:rPr>
              <a:t>: Los dispositivos publican mensajes en "topics" y otros se suscriben para recibirlos.</a:t>
            </a:r>
            <a:endParaRPr b="0" i="0" sz="1300" u="none" cap="none" strike="noStrike"/>
          </a:p>
          <a:p>
            <a:pPr indent="-342900" lvl="0" marL="342900" marR="0" rtl="0" algn="l">
              <a:lnSpc>
                <a:spcPct val="146153"/>
              </a:lnSpc>
              <a:spcBef>
                <a:spcPts val="0"/>
              </a:spcBef>
              <a:spcAft>
                <a:spcPts val="0"/>
              </a:spcAft>
              <a:buClr>
                <a:srgbClr val="D6E5EF"/>
              </a:buClr>
              <a:buSzPts val="1300"/>
              <a:buFont typeface="Roboto"/>
              <a:buChar char="•"/>
            </a:pPr>
            <a:r>
              <a:rPr b="0" i="0" lang="en-US" sz="1300" u="none" cap="none" strike="noStrike">
                <a:solidFill>
                  <a:srgbClr val="D6E5EF"/>
                </a:solidFill>
                <a:latin typeface="Roboto"/>
                <a:ea typeface="Roboto"/>
                <a:cs typeface="Roboto"/>
                <a:sym typeface="Roboto"/>
              </a:rPr>
              <a:t>Broker Central: Actúa como intermediario, gestionando el enrutamiento de mensajes entre publicadores y suscriptores.</a:t>
            </a:r>
            <a:endParaRPr b="0" i="0" sz="1300" u="none" cap="none" strike="noStrike"/>
          </a:p>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Optimizado para redes con </a:t>
            </a:r>
            <a:r>
              <a:rPr b="1" i="0" lang="en-US" sz="1300" u="none" cap="none" strike="noStrike">
                <a:solidFill>
                  <a:srgbClr val="D6E5EF"/>
                </a:solidFill>
                <a:latin typeface="Roboto"/>
                <a:ea typeface="Roboto"/>
                <a:cs typeface="Roboto"/>
                <a:sym typeface="Roboto"/>
              </a:rPr>
              <a:t>ancho de banda limitado</a:t>
            </a:r>
            <a:r>
              <a:rPr b="0" i="0" lang="en-US" sz="1300" u="none" cap="none" strike="noStrike">
                <a:solidFill>
                  <a:srgbClr val="D6E5EF"/>
                </a:solidFill>
                <a:latin typeface="Roboto"/>
                <a:ea typeface="Roboto"/>
                <a:cs typeface="Roboto"/>
                <a:sym typeface="Roboto"/>
              </a:rPr>
              <a:t>.</a:t>
            </a:r>
            <a:endParaRPr b="0" i="0" sz="1300" u="none" cap="none" strike="noStrike"/>
          </a:p>
        </p:txBody>
      </p:sp>
      <p:sp>
        <p:nvSpPr>
          <p:cNvPr id="94" name="Google Shape;94;p22"/>
          <p:cNvSpPr/>
          <p:nvPr/>
        </p:nvSpPr>
        <p:spPr>
          <a:xfrm>
            <a:off x="738068" y="5949791"/>
            <a:ext cx="4986933" cy="312777"/>
          </a:xfrm>
          <a:prstGeom prst="rect">
            <a:avLst/>
          </a:prstGeom>
          <a:noFill/>
          <a:ln>
            <a:noFill/>
          </a:ln>
        </p:spPr>
        <p:txBody>
          <a:bodyPr anchorCtr="0" anchor="t" bIns="0" lIns="0" spcFirstLastPara="1" rIns="0" wrap="square" tIns="0">
            <a:noAutofit/>
          </a:bodyPr>
          <a:lstStyle/>
          <a:p>
            <a:pPr indent="0" lvl="0" marL="0" marR="0" rtl="0" algn="l">
              <a:lnSpc>
                <a:spcPct val="125641"/>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Combinación para Soluciones IoT</a:t>
            </a:r>
            <a:endParaRPr b="0" i="0" sz="1950" u="none" cap="none" strike="noStrike"/>
          </a:p>
        </p:txBody>
      </p:sp>
      <p:sp>
        <p:nvSpPr>
          <p:cNvPr id="95" name="Google Shape;95;p22"/>
          <p:cNvSpPr/>
          <p:nvPr/>
        </p:nvSpPr>
        <p:spPr>
          <a:xfrm>
            <a:off x="738068" y="6472833"/>
            <a:ext cx="13154144" cy="736521"/>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La sinergia entre Node-RED y MQTT es clave. Node-RED cuenta con nodos MQTT nativos que simplifican enormemente la publicación y suscripción a topics, permitiendo a los desarrolladores crear flujos de datos complejos y lógicas de automatización sin escribir una sola línea de código para la comunicación. Juntos, forman una base sólida para el desarrollo ágil de aplicaciones IoT, desde la recolección de datos de sensores hasta la activación de actuadores o la integración con servicios en la nube.</a:t>
            </a:r>
            <a:endParaRPr b="0" i="0" sz="13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descr="preencoded.png" id="101" name="Google Shape;101;p2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02" name="Google Shape;102;p23"/>
          <p:cNvSpPr/>
          <p:nvPr/>
        </p:nvSpPr>
        <p:spPr>
          <a:xfrm>
            <a:off x="793790" y="3179564"/>
            <a:ext cx="5931337"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Introducción a Node-RED</a:t>
            </a:r>
            <a:endParaRPr b="0" i="0" sz="3900" u="none" cap="none" strike="noStrike"/>
          </a:p>
        </p:txBody>
      </p:sp>
      <p:sp>
        <p:nvSpPr>
          <p:cNvPr id="103" name="Google Shape;103;p23"/>
          <p:cNvSpPr/>
          <p:nvPr/>
        </p:nvSpPr>
        <p:spPr>
          <a:xfrm>
            <a:off x="793790" y="4097298"/>
            <a:ext cx="755642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Editor gráfico de código abierto para interconectar dispositivos, servicios en la nube, bases de datos y APIs. Una herramienta visual de «cableado» para el Internet de las Cosas.</a:t>
            </a:r>
            <a:endParaRPr b="0" i="0" sz="15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4"/>
          <p:cNvSpPr/>
          <p:nvPr/>
        </p:nvSpPr>
        <p:spPr>
          <a:xfrm>
            <a:off x="793790" y="1508165"/>
            <a:ext cx="496181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¿Qué es Node-RED?</a:t>
            </a:r>
            <a:endParaRPr b="0" i="0" sz="3900" u="none" cap="none" strike="noStrike"/>
          </a:p>
        </p:txBody>
      </p:sp>
      <p:sp>
        <p:nvSpPr>
          <p:cNvPr id="110" name="Google Shape;110;p24"/>
          <p:cNvSpPr/>
          <p:nvPr/>
        </p:nvSpPr>
        <p:spPr>
          <a:xfrm>
            <a:off x="650915" y="2425898"/>
            <a:ext cx="6565106" cy="4295418"/>
          </a:xfrm>
          <a:prstGeom prst="roundRect">
            <a:avLst>
              <a:gd fmla="val 693" name="adj"/>
            </a:avLst>
          </a:prstGeom>
          <a:solidFill>
            <a:srgbClr val="66A8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4"/>
          <p:cNvSpPr/>
          <p:nvPr/>
        </p:nvSpPr>
        <p:spPr>
          <a:xfrm>
            <a:off x="849273" y="2624257"/>
            <a:ext cx="4118253"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00000"/>
              </a:buClr>
              <a:buSzPts val="1950"/>
              <a:buFont typeface="Roboto Slab"/>
              <a:buNone/>
            </a:pPr>
            <a:r>
              <a:rPr b="0" i="0" lang="en-US" sz="1950" u="none" cap="none" strike="noStrike">
                <a:solidFill>
                  <a:srgbClr val="000000"/>
                </a:solidFill>
                <a:latin typeface="Roboto Slab"/>
                <a:ea typeface="Roboto Slab"/>
                <a:cs typeface="Roboto Slab"/>
                <a:sym typeface="Roboto Slab"/>
              </a:rPr>
              <a:t>Editor gráfico basado en navegador</a:t>
            </a:r>
            <a:endParaRPr b="0" i="0" sz="1950" u="none" cap="none" strike="noStrike"/>
          </a:p>
        </p:txBody>
      </p:sp>
      <p:sp>
        <p:nvSpPr>
          <p:cNvPr id="112" name="Google Shape;112;p24"/>
          <p:cNvSpPr/>
          <p:nvPr/>
        </p:nvSpPr>
        <p:spPr>
          <a:xfrm>
            <a:off x="849273" y="3132772"/>
            <a:ext cx="6168390"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000000"/>
              </a:buClr>
              <a:buSzPts val="1550"/>
              <a:buFont typeface="Roboto"/>
              <a:buNone/>
            </a:pPr>
            <a:r>
              <a:rPr b="0" i="0" lang="en-US" sz="1550" u="none" cap="none" strike="noStrike">
                <a:solidFill>
                  <a:srgbClr val="000000"/>
                </a:solidFill>
                <a:latin typeface="Roboto"/>
                <a:ea typeface="Roboto"/>
                <a:cs typeface="Roboto"/>
                <a:sym typeface="Roboto"/>
              </a:rPr>
              <a:t>Permite a programadores de cualquier nivel interconectar rápidamente E/S físicas, servicios en la nube, bases de datos y APIs en cualquier combinación imaginable.</a:t>
            </a:r>
            <a:endParaRPr b="0" i="0" sz="1550" u="none" cap="none" strike="noStrike"/>
          </a:p>
        </p:txBody>
      </p:sp>
      <p:sp>
        <p:nvSpPr>
          <p:cNvPr id="113" name="Google Shape;113;p24"/>
          <p:cNvSpPr/>
          <p:nvPr/>
        </p:nvSpPr>
        <p:spPr>
          <a:xfrm>
            <a:off x="849273" y="4263985"/>
            <a:ext cx="6168390"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000000"/>
              </a:buClr>
              <a:buSzPts val="1550"/>
              <a:buFont typeface="Roboto"/>
              <a:buNone/>
            </a:pPr>
            <a:r>
              <a:rPr b="0" i="0" lang="en-US" sz="1550" u="none" cap="none" strike="noStrike">
                <a:solidFill>
                  <a:srgbClr val="000000"/>
                </a:solidFill>
                <a:latin typeface="Roboto"/>
                <a:ea typeface="Roboto"/>
                <a:cs typeface="Roboto"/>
                <a:sym typeface="Roboto"/>
              </a:rPr>
              <a:t>Ejecutable en </a:t>
            </a:r>
            <a:r>
              <a:rPr b="1" i="0" lang="en-US" sz="1550" u="none" cap="none" strike="noStrike">
                <a:solidFill>
                  <a:srgbClr val="000000"/>
                </a:solidFill>
                <a:latin typeface="Roboto"/>
                <a:ea typeface="Roboto"/>
                <a:cs typeface="Roboto"/>
                <a:sym typeface="Roboto"/>
              </a:rPr>
              <a:t>Raspberry Pi</a:t>
            </a:r>
            <a:r>
              <a:rPr b="0" i="0" lang="en-US" sz="1550" u="none" cap="none" strike="noStrike">
                <a:solidFill>
                  <a:srgbClr val="000000"/>
                </a:solidFill>
                <a:latin typeface="Roboto"/>
                <a:ea typeface="Roboto"/>
                <a:cs typeface="Roboto"/>
                <a:sym typeface="Roboto"/>
              </a:rPr>
              <a:t>, PCs o servidores en la nube.</a:t>
            </a:r>
            <a:endParaRPr b="0" i="0" sz="1550" u="none" cap="none" strike="noStrike"/>
          </a:p>
        </p:txBody>
      </p:sp>
      <p:sp>
        <p:nvSpPr>
          <p:cNvPr id="114" name="Google Shape;114;p24"/>
          <p:cNvSpPr/>
          <p:nvPr/>
        </p:nvSpPr>
        <p:spPr>
          <a:xfrm>
            <a:off x="7564874" y="2624257"/>
            <a:ext cx="3342680"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Node-RED y la Fundación JS</a:t>
            </a:r>
            <a:endParaRPr b="0" i="0" sz="1950" u="none" cap="none" strike="noStrike"/>
          </a:p>
        </p:txBody>
      </p:sp>
      <p:sp>
        <p:nvSpPr>
          <p:cNvPr id="115" name="Google Shape;115;p24"/>
          <p:cNvSpPr/>
          <p:nvPr/>
        </p:nvSpPr>
        <p:spPr>
          <a:xfrm>
            <a:off x="7564874" y="3132772"/>
            <a:ext cx="62793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Desarrollado originalmente por el equipo de </a:t>
            </a:r>
            <a:r>
              <a:rPr b="1" i="0" lang="en-US" sz="1550" u="none" cap="none" strike="noStrike">
                <a:solidFill>
                  <a:srgbClr val="D6E5EF"/>
                </a:solidFill>
                <a:latin typeface="Roboto"/>
                <a:ea typeface="Roboto"/>
                <a:cs typeface="Roboto"/>
                <a:sym typeface="Roboto"/>
              </a:rPr>
              <a:t>Servicios de Tecnología Emergente de IBM</a:t>
            </a:r>
            <a:r>
              <a:rPr b="0" i="0" lang="en-US" sz="1550" u="none" cap="none" strike="noStrike">
                <a:solidFill>
                  <a:srgbClr val="D6E5EF"/>
                </a:solidFill>
                <a:latin typeface="Roboto"/>
                <a:ea typeface="Roboto"/>
                <a:cs typeface="Roboto"/>
                <a:sym typeface="Roboto"/>
              </a:rPr>
              <a:t>, actualmente forma parte de la </a:t>
            </a:r>
            <a:r>
              <a:rPr b="1" i="0" lang="en-US" sz="1550" u="none" cap="none" strike="noStrike">
                <a:solidFill>
                  <a:srgbClr val="D6E5EF"/>
                </a:solidFill>
                <a:latin typeface="Roboto"/>
                <a:ea typeface="Roboto"/>
                <a:cs typeface="Roboto"/>
                <a:sym typeface="Roboto"/>
              </a:rPr>
              <a:t>Fundación JS</a:t>
            </a:r>
            <a:r>
              <a:rPr b="0" i="0" lang="en-US" sz="1550" u="none" cap="none" strike="noStrike">
                <a:solidFill>
                  <a:srgbClr val="D6E5EF"/>
                </a:solidFill>
                <a:latin typeface="Roboto"/>
                <a:ea typeface="Roboto"/>
                <a:cs typeface="Roboto"/>
                <a:sym typeface="Roboto"/>
              </a:rPr>
              <a:t>.</a:t>
            </a:r>
            <a:endParaRPr b="0" i="0" sz="1550" u="none" cap="none" strike="noStrike"/>
          </a:p>
        </p:txBody>
      </p:sp>
      <p:pic>
        <p:nvPicPr>
          <p:cNvPr descr="preencoded.png" id="116" name="Google Shape;116;p24"/>
          <p:cNvPicPr preferRelativeResize="0"/>
          <p:nvPr/>
        </p:nvPicPr>
        <p:blipFill rotWithShape="1">
          <a:blip r:embed="rId3">
            <a:alphaModFix/>
          </a:blip>
          <a:srcRect b="0" l="0" r="0" t="0"/>
          <a:stretch/>
        </p:blipFill>
        <p:spPr>
          <a:xfrm>
            <a:off x="7564874" y="3991094"/>
            <a:ext cx="2606040" cy="25069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5"/>
          <p:cNvSpPr/>
          <p:nvPr/>
        </p:nvSpPr>
        <p:spPr>
          <a:xfrm>
            <a:off x="793790" y="1792724"/>
            <a:ext cx="8326041"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Arquitectura interna: Nodos y JSON</a:t>
            </a:r>
            <a:endParaRPr b="0" i="0" sz="3900" u="none" cap="none" strike="noStrike"/>
          </a:p>
        </p:txBody>
      </p:sp>
      <p:sp>
        <p:nvSpPr>
          <p:cNvPr id="123" name="Google Shape;123;p25"/>
          <p:cNvSpPr/>
          <p:nvPr/>
        </p:nvSpPr>
        <p:spPr>
          <a:xfrm>
            <a:off x="793790" y="2809637"/>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Node-RED usa </a:t>
            </a:r>
            <a:r>
              <a:rPr b="1" i="0" lang="en-US" sz="1550" u="none" cap="none" strike="noStrike">
                <a:solidFill>
                  <a:srgbClr val="D6E5EF"/>
                </a:solidFill>
                <a:latin typeface="Roboto"/>
                <a:ea typeface="Roboto"/>
                <a:cs typeface="Roboto"/>
                <a:sym typeface="Roboto"/>
              </a:rPr>
              <a:t>nodos centrales</a:t>
            </a:r>
            <a:r>
              <a:rPr b="0" i="0" lang="en-US" sz="1550" u="none" cap="none" strike="noStrike">
                <a:solidFill>
                  <a:srgbClr val="D6E5EF"/>
                </a:solidFill>
                <a:latin typeface="Roboto"/>
                <a:ea typeface="Roboto"/>
                <a:cs typeface="Roboto"/>
                <a:sym typeface="Roboto"/>
              </a:rPr>
              <a:t> incluidos en el sistema y </a:t>
            </a:r>
            <a:r>
              <a:rPr b="1" i="0" lang="en-US" sz="1550" u="none" cap="none" strike="noStrike">
                <a:solidFill>
                  <a:srgbClr val="D6E5EF"/>
                </a:solidFill>
                <a:latin typeface="Roboto"/>
                <a:ea typeface="Roboto"/>
                <a:cs typeface="Roboto"/>
                <a:sym typeface="Roboto"/>
              </a:rPr>
              <a:t>paquetes de la comunidad</a:t>
            </a:r>
            <a:r>
              <a:rPr b="0" i="0" lang="en-US" sz="1550" u="none" cap="none" strike="noStrike">
                <a:solidFill>
                  <a:srgbClr val="D6E5EF"/>
                </a:solidFill>
                <a:latin typeface="Roboto"/>
                <a:ea typeface="Roboto"/>
                <a:cs typeface="Roboto"/>
                <a:sym typeface="Roboto"/>
              </a:rPr>
              <a:t> descargables. En tiempo de ejecución, todos los nodos son JavaScript. La comunicación entre nodos se realiza mediante un objeto de mensaje estandarizado en formato </a:t>
            </a:r>
            <a:r>
              <a:rPr b="1" i="0" lang="en-US" sz="1550" u="none" cap="none" strike="noStrike">
                <a:solidFill>
                  <a:srgbClr val="D6E5EF"/>
                </a:solidFill>
                <a:latin typeface="Roboto"/>
                <a:ea typeface="Roboto"/>
                <a:cs typeface="Roboto"/>
                <a:sym typeface="Roboto"/>
              </a:rPr>
              <a:t>JSON</a:t>
            </a:r>
            <a:r>
              <a:rPr b="0" i="0" lang="en-US" sz="1550" u="none" cap="none" strike="noStrike">
                <a:solidFill>
                  <a:srgbClr val="D6E5EF"/>
                </a:solidFill>
                <a:latin typeface="Roboto"/>
                <a:ea typeface="Roboto"/>
                <a:cs typeface="Roboto"/>
                <a:sym typeface="Roboto"/>
              </a:rPr>
              <a:t>.</a:t>
            </a:r>
            <a:endParaRPr b="0" i="0" sz="1550" u="none" cap="none" strike="noStrike"/>
          </a:p>
        </p:txBody>
      </p:sp>
      <p:sp>
        <p:nvSpPr>
          <p:cNvPr id="124" name="Google Shape;124;p25"/>
          <p:cNvSpPr/>
          <p:nvPr/>
        </p:nvSpPr>
        <p:spPr>
          <a:xfrm>
            <a:off x="793790" y="3866317"/>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¿Qué es JSON?</a:t>
            </a:r>
            <a:endParaRPr b="0" i="0" sz="1950" u="none" cap="none" strike="noStrike"/>
          </a:p>
        </p:txBody>
      </p:sp>
      <p:sp>
        <p:nvSpPr>
          <p:cNvPr id="125" name="Google Shape;125;p25"/>
          <p:cNvSpPr/>
          <p:nvPr/>
        </p:nvSpPr>
        <p:spPr>
          <a:xfrm>
            <a:off x="793790" y="4374832"/>
            <a:ext cx="62793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JSON es una forma específica de formatear datos en cadenas de caracteres usando pares </a:t>
            </a:r>
            <a:r>
              <a:rPr b="1" i="0" lang="en-US" sz="1550" u="none" cap="none" strike="noStrike">
                <a:solidFill>
                  <a:srgbClr val="D6E5EF"/>
                </a:solidFill>
                <a:latin typeface="Roboto"/>
                <a:ea typeface="Roboto"/>
                <a:cs typeface="Roboto"/>
                <a:sym typeface="Roboto"/>
              </a:rPr>
              <a:t>clave:valor</a:t>
            </a:r>
            <a:r>
              <a:rPr b="0" i="0" lang="en-US" sz="1550" u="none" cap="none" strike="noStrike">
                <a:solidFill>
                  <a:srgbClr val="D6E5EF"/>
                </a:solidFill>
                <a:latin typeface="Roboto"/>
                <a:ea typeface="Roboto"/>
                <a:cs typeface="Roboto"/>
                <a:sym typeface="Roboto"/>
              </a:rPr>
              <a:t>.</a:t>
            </a:r>
            <a:endParaRPr b="0" i="0" sz="1550" u="none" cap="none" strike="noStrike"/>
          </a:p>
        </p:txBody>
      </p:sp>
      <p:sp>
        <p:nvSpPr>
          <p:cNvPr id="126" name="Google Shape;126;p25"/>
          <p:cNvSpPr/>
          <p:nvPr/>
        </p:nvSpPr>
        <p:spPr>
          <a:xfrm>
            <a:off x="793790" y="5188506"/>
            <a:ext cx="6279356" cy="96023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Ejemplo: en lugar de enviar </a:t>
            </a:r>
            <a:r>
              <a:rPr b="0" i="0" lang="en-US" sz="1550" u="none" cap="none" strike="noStrike">
                <a:solidFill>
                  <a:srgbClr val="D6E5EF"/>
                </a:solidFill>
                <a:highlight>
                  <a:srgbClr val="2D3440"/>
                </a:highlight>
                <a:latin typeface="Consolas"/>
                <a:ea typeface="Consolas"/>
                <a:cs typeface="Consolas"/>
                <a:sym typeface="Consolas"/>
              </a:rPr>
              <a:t>52.74</a:t>
            </a:r>
            <a:r>
              <a:rPr b="0" i="0" lang="en-US" sz="1550" u="none" cap="none" strike="noStrike">
                <a:solidFill>
                  <a:srgbClr val="D6E5EF"/>
                </a:solidFill>
                <a:latin typeface="Roboto"/>
                <a:ea typeface="Roboto"/>
                <a:cs typeface="Roboto"/>
                <a:sym typeface="Roboto"/>
              </a:rPr>
              <a:t>, JSON envía </a:t>
            </a:r>
            <a:r>
              <a:rPr b="0" i="0" lang="en-US" sz="1550" u="none" cap="none" strike="noStrike">
                <a:solidFill>
                  <a:srgbClr val="D6E5EF"/>
                </a:solidFill>
                <a:highlight>
                  <a:srgbClr val="2D3440"/>
                </a:highlight>
                <a:latin typeface="Consolas"/>
                <a:ea typeface="Consolas"/>
                <a:cs typeface="Consolas"/>
                <a:sym typeface="Consolas"/>
              </a:rPr>
              <a:t>{"temperatura": 52.74}</a:t>
            </a:r>
            <a:r>
              <a:rPr b="0" i="0" lang="en-US" sz="1550" u="none" cap="none" strike="noStrike">
                <a:solidFill>
                  <a:srgbClr val="D6E5EF"/>
                </a:solidFill>
                <a:latin typeface="Roboto"/>
                <a:ea typeface="Roboto"/>
                <a:cs typeface="Roboto"/>
                <a:sym typeface="Roboto"/>
              </a:rPr>
              <a:t>. El tipo de dato queda implícito y cualquier API puede procesarlo fácilmente.</a:t>
            </a:r>
            <a:endParaRPr b="0" i="0" sz="1550" u="none" cap="none" strike="noStrike"/>
          </a:p>
        </p:txBody>
      </p:sp>
      <p:pic>
        <p:nvPicPr>
          <p:cNvPr descr="preencoded.png" id="127" name="Google Shape;127;p25"/>
          <p:cNvPicPr preferRelativeResize="0"/>
          <p:nvPr/>
        </p:nvPicPr>
        <p:blipFill rotWithShape="1">
          <a:blip r:embed="rId3">
            <a:alphaModFix/>
          </a:blip>
          <a:srcRect b="0" l="0" r="0" t="0"/>
          <a:stretch/>
        </p:blipFill>
        <p:spPr>
          <a:xfrm>
            <a:off x="7564874" y="3891201"/>
            <a:ext cx="1318260" cy="1508760"/>
          </a:xfrm>
          <a:prstGeom prst="rect">
            <a:avLst/>
          </a:prstGeom>
          <a:noFill/>
          <a:ln>
            <a:noFill/>
          </a:ln>
        </p:spPr>
      </p:pic>
      <p:sp>
        <p:nvSpPr>
          <p:cNvPr id="128" name="Google Shape;128;p25"/>
          <p:cNvSpPr/>
          <p:nvPr/>
        </p:nvSpPr>
        <p:spPr>
          <a:xfrm>
            <a:off x="7564874" y="5623203"/>
            <a:ext cx="62793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Casi todas las interfaces de programación trabajan con JSON: es muy común y muy potente.</a:t>
            </a:r>
            <a:endParaRPr b="0" i="0" sz="15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preencoded.png" id="134" name="Google Shape;134;p2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35" name="Google Shape;135;p26"/>
          <p:cNvSpPr/>
          <p:nvPr/>
        </p:nvSpPr>
        <p:spPr>
          <a:xfrm>
            <a:off x="6280190" y="1778198"/>
            <a:ext cx="6750963"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Propósito clave de Node-RED</a:t>
            </a:r>
            <a:endParaRPr b="0" i="0" sz="3900" u="none" cap="none" strike="noStrike"/>
          </a:p>
        </p:txBody>
      </p:sp>
      <p:sp>
        <p:nvSpPr>
          <p:cNvPr id="136" name="Google Shape;136;p26"/>
          <p:cNvSpPr/>
          <p:nvPr/>
        </p:nvSpPr>
        <p:spPr>
          <a:xfrm>
            <a:off x="6280190" y="2695932"/>
            <a:ext cx="3679031" cy="2096095"/>
          </a:xfrm>
          <a:prstGeom prst="roundRect">
            <a:avLst>
              <a:gd fmla="val 1420"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6"/>
          <p:cNvSpPr/>
          <p:nvPr/>
        </p:nvSpPr>
        <p:spPr>
          <a:xfrm>
            <a:off x="6478548" y="2894290"/>
            <a:ext cx="3085981"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Interconexión de servicios</a:t>
            </a:r>
            <a:endParaRPr b="0" i="0" sz="1950" u="none" cap="none" strike="noStrike"/>
          </a:p>
        </p:txBody>
      </p:sp>
      <p:sp>
        <p:nvSpPr>
          <p:cNvPr id="138" name="Google Shape;138;p26"/>
          <p:cNvSpPr/>
          <p:nvPr/>
        </p:nvSpPr>
        <p:spPr>
          <a:xfrm>
            <a:off x="6478548" y="3323511"/>
            <a:ext cx="3282315"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Diseñado para conectar servicios externos: APIs meteorológicas, bases de datos, MQTT, análisis en la nube como IBM Watson.</a:t>
            </a:r>
            <a:endParaRPr b="0" i="0" sz="1550" u="none" cap="none" strike="noStrike"/>
          </a:p>
        </p:txBody>
      </p:sp>
      <p:sp>
        <p:nvSpPr>
          <p:cNvPr id="139" name="Google Shape;139;p26"/>
          <p:cNvSpPr/>
          <p:nvPr/>
        </p:nvSpPr>
        <p:spPr>
          <a:xfrm>
            <a:off x="10157579" y="2695932"/>
            <a:ext cx="3679031" cy="2096095"/>
          </a:xfrm>
          <a:prstGeom prst="roundRect">
            <a:avLst>
              <a:gd fmla="val 1420"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6"/>
          <p:cNvSpPr/>
          <p:nvPr/>
        </p:nvSpPr>
        <p:spPr>
          <a:xfrm>
            <a:off x="10355937" y="289429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Flujo de datos</a:t>
            </a:r>
            <a:endParaRPr b="0" i="0" sz="1950" u="none" cap="none" strike="noStrike"/>
          </a:p>
        </p:txBody>
      </p:sp>
      <p:sp>
        <p:nvSpPr>
          <p:cNvPr id="141" name="Google Shape;141;p26"/>
          <p:cNvSpPr/>
          <p:nvPr/>
        </p:nvSpPr>
        <p:spPr>
          <a:xfrm>
            <a:off x="10355937" y="3323511"/>
            <a:ext cx="3282315"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Toma datos de una fuente externa y los escribe hacia un servicio destino, o conecta dos servicios en la nube entre sí.</a:t>
            </a:r>
            <a:endParaRPr b="0" i="0" sz="1550" u="none" cap="none" strike="noStrike"/>
          </a:p>
        </p:txBody>
      </p:sp>
      <p:sp>
        <p:nvSpPr>
          <p:cNvPr id="142" name="Google Shape;142;p26"/>
          <p:cNvSpPr/>
          <p:nvPr/>
        </p:nvSpPr>
        <p:spPr>
          <a:xfrm>
            <a:off x="6280190" y="4990386"/>
            <a:ext cx="7556421" cy="1461016"/>
          </a:xfrm>
          <a:prstGeom prst="roundRect">
            <a:avLst>
              <a:gd fmla="val 2038"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6"/>
          <p:cNvSpPr/>
          <p:nvPr/>
        </p:nvSpPr>
        <p:spPr>
          <a:xfrm>
            <a:off x="6478548" y="5188744"/>
            <a:ext cx="2636401"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No es lógica de control</a:t>
            </a:r>
            <a:endParaRPr b="0" i="0" sz="1950" u="none" cap="none" strike="noStrike"/>
          </a:p>
        </p:txBody>
      </p:sp>
      <p:sp>
        <p:nvSpPr>
          <p:cNvPr id="144" name="Google Shape;144;p26"/>
          <p:cNvSpPr/>
          <p:nvPr/>
        </p:nvSpPr>
        <p:spPr>
          <a:xfrm>
            <a:off x="6478548" y="5617964"/>
            <a:ext cx="7159704"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Node-RED es un lenguaje de comunicación, no está diseñado para lógica de control compleja. Su fortaleza es la interconexión.</a:t>
            </a:r>
            <a:endParaRPr b="0" i="0" sz="15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p:nvPr/>
        </p:nvSpPr>
        <p:spPr>
          <a:xfrm>
            <a:off x="793790" y="1329095"/>
            <a:ext cx="5201245"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El Editor de Node-RED</a:t>
            </a:r>
            <a:endParaRPr b="0" i="0" sz="3900" u="none" cap="none" strike="noStrike"/>
          </a:p>
        </p:txBody>
      </p:sp>
      <p:sp>
        <p:nvSpPr>
          <p:cNvPr id="151" name="Google Shape;151;p27"/>
          <p:cNvSpPr/>
          <p:nvPr/>
        </p:nvSpPr>
        <p:spPr>
          <a:xfrm>
            <a:off x="793790" y="2346008"/>
            <a:ext cx="13042821"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El editor se divide en </a:t>
            </a:r>
            <a:r>
              <a:rPr b="1" i="0" lang="en-US" sz="1550" u="none" cap="none" strike="noStrike">
                <a:solidFill>
                  <a:srgbClr val="D6E5EF"/>
                </a:solidFill>
                <a:latin typeface="Roboto"/>
                <a:ea typeface="Roboto"/>
                <a:cs typeface="Roboto"/>
                <a:sym typeface="Roboto"/>
              </a:rPr>
              <a:t>cuatro partes principales</a:t>
            </a:r>
            <a:r>
              <a:rPr b="0" i="0" lang="en-US" sz="1550" u="none" cap="none" strike="noStrike">
                <a:solidFill>
                  <a:srgbClr val="D6E5EF"/>
                </a:solidFill>
                <a:latin typeface="Roboto"/>
                <a:ea typeface="Roboto"/>
                <a:cs typeface="Roboto"/>
                <a:sym typeface="Roboto"/>
              </a:rPr>
              <a:t> que trabajan conjuntamente para crear y gestionar flujos:</a:t>
            </a:r>
            <a:endParaRPr b="0" i="0" sz="1550" u="none" cap="none" strike="noStrike"/>
          </a:p>
        </p:txBody>
      </p:sp>
      <p:pic>
        <p:nvPicPr>
          <p:cNvPr descr="preencoded.png" id="152" name="Google Shape;152;p27"/>
          <p:cNvPicPr preferRelativeResize="0"/>
          <p:nvPr/>
        </p:nvPicPr>
        <p:blipFill rotWithShape="1">
          <a:blip r:embed="rId3">
            <a:alphaModFix/>
          </a:blip>
          <a:srcRect b="0" l="0" r="0" t="0"/>
          <a:stretch/>
        </p:blipFill>
        <p:spPr>
          <a:xfrm>
            <a:off x="793790" y="2886789"/>
            <a:ext cx="496133" cy="496133"/>
          </a:xfrm>
          <a:prstGeom prst="rect">
            <a:avLst/>
          </a:prstGeom>
          <a:noFill/>
          <a:ln>
            <a:noFill/>
          </a:ln>
        </p:spPr>
      </p:pic>
      <p:sp>
        <p:nvSpPr>
          <p:cNvPr id="153" name="Google Shape;153;p27"/>
          <p:cNvSpPr/>
          <p:nvPr/>
        </p:nvSpPr>
        <p:spPr>
          <a:xfrm>
            <a:off x="793790" y="3630930"/>
            <a:ext cx="3315533"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Espacio de Trabajo Principal</a:t>
            </a:r>
            <a:endParaRPr b="0" i="0" sz="1950" u="none" cap="none" strike="noStrike"/>
          </a:p>
        </p:txBody>
      </p:sp>
      <p:sp>
        <p:nvSpPr>
          <p:cNvPr id="154" name="Google Shape;154;p27"/>
          <p:cNvSpPr/>
          <p:nvPr/>
        </p:nvSpPr>
        <p:spPr>
          <a:xfrm>
            <a:off x="793790" y="4060150"/>
            <a:ext cx="6397347"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Donde residen y se interconectan los flujos. Toda la programación ocurre aquí.</a:t>
            </a:r>
            <a:endParaRPr b="0" i="0" sz="1550" u="none" cap="none" strike="noStrike"/>
          </a:p>
        </p:txBody>
      </p:sp>
      <p:pic>
        <p:nvPicPr>
          <p:cNvPr descr="preencoded.png" id="155" name="Google Shape;155;p27"/>
          <p:cNvPicPr preferRelativeResize="0"/>
          <p:nvPr/>
        </p:nvPicPr>
        <p:blipFill rotWithShape="1">
          <a:blip r:embed="rId4">
            <a:alphaModFix/>
          </a:blip>
          <a:srcRect b="0" l="0" r="0" t="0"/>
          <a:stretch/>
        </p:blipFill>
        <p:spPr>
          <a:xfrm>
            <a:off x="7439144" y="2886789"/>
            <a:ext cx="496133" cy="496133"/>
          </a:xfrm>
          <a:prstGeom prst="rect">
            <a:avLst/>
          </a:prstGeom>
          <a:noFill/>
          <a:ln>
            <a:noFill/>
          </a:ln>
        </p:spPr>
      </p:pic>
      <p:sp>
        <p:nvSpPr>
          <p:cNvPr id="156" name="Google Shape;156;p27"/>
          <p:cNvSpPr/>
          <p:nvPr/>
        </p:nvSpPr>
        <p:spPr>
          <a:xfrm>
            <a:off x="7439144" y="363093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Paleta de Nodos</a:t>
            </a:r>
            <a:endParaRPr b="0" i="0" sz="1950" u="none" cap="none" strike="noStrike"/>
          </a:p>
        </p:txBody>
      </p:sp>
      <p:sp>
        <p:nvSpPr>
          <p:cNvPr id="157" name="Google Shape;157;p27"/>
          <p:cNvSpPr/>
          <p:nvPr/>
        </p:nvSpPr>
        <p:spPr>
          <a:xfrm>
            <a:off x="7439144" y="4060150"/>
            <a:ext cx="639746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Panel izquierdo con todos los nodos instalados, organizados en secciones plegables con buscador.</a:t>
            </a:r>
            <a:endParaRPr b="0" i="0" sz="1550" u="none" cap="none" strike="noStrike"/>
          </a:p>
        </p:txBody>
      </p:sp>
      <p:pic>
        <p:nvPicPr>
          <p:cNvPr descr="preencoded.png" id="158" name="Google Shape;158;p27"/>
          <p:cNvPicPr preferRelativeResize="0"/>
          <p:nvPr/>
        </p:nvPicPr>
        <p:blipFill rotWithShape="1">
          <a:blip r:embed="rId5">
            <a:alphaModFix/>
          </a:blip>
          <a:srcRect b="0" l="0" r="0" t="0"/>
          <a:stretch/>
        </p:blipFill>
        <p:spPr>
          <a:xfrm>
            <a:off x="793790" y="5092065"/>
            <a:ext cx="496133" cy="496133"/>
          </a:xfrm>
          <a:prstGeom prst="rect">
            <a:avLst/>
          </a:prstGeom>
          <a:noFill/>
          <a:ln>
            <a:noFill/>
          </a:ln>
        </p:spPr>
      </p:pic>
      <p:sp>
        <p:nvSpPr>
          <p:cNvPr id="159" name="Google Shape;159;p27"/>
          <p:cNvSpPr/>
          <p:nvPr/>
        </p:nvSpPr>
        <p:spPr>
          <a:xfrm>
            <a:off x="793790" y="5836206"/>
            <a:ext cx="2794159"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Panel Info y Depuración</a:t>
            </a:r>
            <a:endParaRPr b="0" i="0" sz="1950" u="none" cap="none" strike="noStrike"/>
          </a:p>
        </p:txBody>
      </p:sp>
      <p:sp>
        <p:nvSpPr>
          <p:cNvPr id="160" name="Google Shape;160;p27"/>
          <p:cNvSpPr/>
          <p:nvPr/>
        </p:nvSpPr>
        <p:spPr>
          <a:xfrm>
            <a:off x="793790" y="6265426"/>
            <a:ext cx="6397347"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Panel derecho con pestañas: Información del nodo seleccionado, Ayuda y mensajes de Debug.</a:t>
            </a:r>
            <a:endParaRPr b="0" i="0" sz="1550" u="none" cap="none" strike="noStrike"/>
          </a:p>
        </p:txBody>
      </p:sp>
      <p:pic>
        <p:nvPicPr>
          <p:cNvPr descr="preencoded.png" id="161" name="Google Shape;161;p27"/>
          <p:cNvPicPr preferRelativeResize="0"/>
          <p:nvPr/>
        </p:nvPicPr>
        <p:blipFill rotWithShape="1">
          <a:blip r:embed="rId6">
            <a:alphaModFix/>
          </a:blip>
          <a:srcRect b="0" l="0" r="0" t="0"/>
          <a:stretch/>
        </p:blipFill>
        <p:spPr>
          <a:xfrm>
            <a:off x="7439144" y="5092065"/>
            <a:ext cx="496133" cy="496133"/>
          </a:xfrm>
          <a:prstGeom prst="rect">
            <a:avLst/>
          </a:prstGeom>
          <a:noFill/>
          <a:ln>
            <a:noFill/>
          </a:ln>
        </p:spPr>
      </p:pic>
      <p:sp>
        <p:nvSpPr>
          <p:cNvPr id="162" name="Google Shape;162;p27"/>
          <p:cNvSpPr/>
          <p:nvPr/>
        </p:nvSpPr>
        <p:spPr>
          <a:xfrm>
            <a:off x="7439144" y="5836206"/>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Menú y Ajustes</a:t>
            </a:r>
            <a:endParaRPr b="0" i="0" sz="1950" u="none" cap="none" strike="noStrike"/>
          </a:p>
        </p:txBody>
      </p:sp>
      <p:sp>
        <p:nvSpPr>
          <p:cNvPr id="163" name="Google Shape;163;p27"/>
          <p:cNvSpPr/>
          <p:nvPr/>
        </p:nvSpPr>
        <p:spPr>
          <a:xfrm>
            <a:off x="7439144" y="6265426"/>
            <a:ext cx="639746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Parte superior derecha: botón Deploy y menú para gestionar el tiempo de ejecución y la configuración.</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p:nvPr/>
        </p:nvSpPr>
        <p:spPr>
          <a:xfrm>
            <a:off x="3402449" y="272891"/>
            <a:ext cx="4312920"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Paleta de Nodos y Espacio de Trabajo</a:t>
            </a:r>
            <a:endParaRPr b="0" i="0" sz="1950" u="none" cap="none" strike="noStrike"/>
          </a:p>
        </p:txBody>
      </p:sp>
      <p:sp>
        <p:nvSpPr>
          <p:cNvPr id="170" name="Google Shape;170;p28"/>
          <p:cNvSpPr/>
          <p:nvPr/>
        </p:nvSpPr>
        <p:spPr>
          <a:xfrm>
            <a:off x="1088575" y="731327"/>
            <a:ext cx="5059500" cy="3102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76B9FF"/>
              </a:buClr>
              <a:buSzPts val="950"/>
              <a:buFont typeface="Roboto Slab"/>
              <a:buNone/>
            </a:pPr>
            <a:r>
              <a:rPr b="0" i="0" lang="en-US" sz="1950" u="none" cap="none" strike="noStrike">
                <a:solidFill>
                  <a:srgbClr val="76B9FF"/>
                </a:solidFill>
                <a:latin typeface="Roboto Slab"/>
                <a:ea typeface="Roboto Slab"/>
                <a:cs typeface="Roboto Slab"/>
                <a:sym typeface="Roboto Slab"/>
              </a:rPr>
              <a:t>Paleta de Nodos</a:t>
            </a:r>
            <a:endParaRPr b="0" i="0" sz="1950" u="none" cap="none" strike="noStrike"/>
          </a:p>
        </p:txBody>
      </p:sp>
      <p:sp>
        <p:nvSpPr>
          <p:cNvPr id="171" name="Google Shape;171;p28"/>
          <p:cNvSpPr/>
          <p:nvPr/>
        </p:nvSpPr>
        <p:spPr>
          <a:xfrm>
            <a:off x="1088576" y="1189800"/>
            <a:ext cx="5870700" cy="5358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a:buNone/>
            </a:pPr>
            <a:r>
              <a:rPr b="0" i="0" lang="en-US" sz="1550" u="none" cap="none" strike="noStrike">
                <a:solidFill>
                  <a:srgbClr val="D6E5EF"/>
                </a:solidFill>
                <a:latin typeface="Roboto"/>
                <a:ea typeface="Roboto"/>
                <a:cs typeface="Roboto"/>
                <a:sym typeface="Roboto"/>
              </a:rPr>
              <a:t>Arrastra nodos desde la paleta al espacio de trabajo para iniciar la lógica del programa. Es la forma más común de trabajar.</a:t>
            </a:r>
            <a:endParaRPr b="0" i="0" sz="1550" u="none" cap="none" strike="noStrike"/>
          </a:p>
        </p:txBody>
      </p:sp>
      <p:pic>
        <p:nvPicPr>
          <p:cNvPr descr="preencoded.png" id="172" name="Google Shape;172;p28"/>
          <p:cNvPicPr preferRelativeResize="0"/>
          <p:nvPr/>
        </p:nvPicPr>
        <p:blipFill rotWithShape="1">
          <a:blip r:embed="rId3">
            <a:alphaModFix/>
          </a:blip>
          <a:srcRect b="0" l="0" r="0" t="0"/>
          <a:stretch/>
        </p:blipFill>
        <p:spPr>
          <a:xfrm>
            <a:off x="2404850" y="1979229"/>
            <a:ext cx="3238143" cy="5810823"/>
          </a:xfrm>
          <a:prstGeom prst="rect">
            <a:avLst/>
          </a:prstGeom>
          <a:noFill/>
          <a:ln>
            <a:noFill/>
          </a:ln>
        </p:spPr>
      </p:pic>
      <p:sp>
        <p:nvSpPr>
          <p:cNvPr id="173" name="Google Shape;173;p28"/>
          <p:cNvSpPr/>
          <p:nvPr/>
        </p:nvSpPr>
        <p:spPr>
          <a:xfrm>
            <a:off x="7443828" y="707005"/>
            <a:ext cx="5260200" cy="2226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76B9FF"/>
              </a:buClr>
              <a:buSzPts val="950"/>
              <a:buFont typeface="Roboto Slab"/>
              <a:buNone/>
            </a:pPr>
            <a:r>
              <a:rPr b="0" i="0" lang="en-US" sz="1950" u="none" cap="none" strike="noStrike">
                <a:solidFill>
                  <a:srgbClr val="76B9FF"/>
                </a:solidFill>
                <a:latin typeface="Roboto Slab"/>
                <a:ea typeface="Roboto Slab"/>
                <a:cs typeface="Roboto Slab"/>
                <a:sym typeface="Roboto Slab"/>
              </a:rPr>
              <a:t>Espacio de Trabajo y Menú</a:t>
            </a:r>
            <a:endParaRPr b="0" i="0" sz="1950" u="none" cap="none" strike="noStrike"/>
          </a:p>
        </p:txBody>
      </p:sp>
      <p:sp>
        <p:nvSpPr>
          <p:cNvPr id="174" name="Google Shape;174;p28"/>
          <p:cNvSpPr/>
          <p:nvPr/>
        </p:nvSpPr>
        <p:spPr>
          <a:xfrm>
            <a:off x="7518000" y="1084750"/>
            <a:ext cx="6039600" cy="758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a:buNone/>
            </a:pPr>
            <a:r>
              <a:rPr b="0" i="0" lang="en-US" sz="1550" u="none" cap="none" strike="noStrike">
                <a:solidFill>
                  <a:srgbClr val="D6E5EF"/>
                </a:solidFill>
                <a:latin typeface="Roboto"/>
                <a:ea typeface="Roboto"/>
                <a:cs typeface="Roboto"/>
                <a:sym typeface="Roboto"/>
              </a:rPr>
              <a:t>Haz clic izquierdo sobre un nodo para seleccionarlo. El menú superior derecho permite importar, exportar, gestionar la paleta y configurar ajustes.</a:t>
            </a:r>
            <a:endParaRPr b="0" i="0" sz="1550" u="none" cap="none" strike="noStrike"/>
          </a:p>
        </p:txBody>
      </p:sp>
      <p:pic>
        <p:nvPicPr>
          <p:cNvPr descr="preencoded.png" id="175" name="Google Shape;175;p28"/>
          <p:cNvPicPr preferRelativeResize="0"/>
          <p:nvPr/>
        </p:nvPicPr>
        <p:blipFill rotWithShape="1">
          <a:blip r:embed="rId4">
            <a:alphaModFix/>
          </a:blip>
          <a:srcRect b="0" l="0" r="0" t="0"/>
          <a:stretch/>
        </p:blipFill>
        <p:spPr>
          <a:xfrm>
            <a:off x="8632601" y="1979225"/>
            <a:ext cx="3238150" cy="59598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p:nvPr/>
        </p:nvSpPr>
        <p:spPr>
          <a:xfrm>
            <a:off x="793790" y="1024057"/>
            <a:ext cx="6061472"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Creando Flujos con Nodos</a:t>
            </a:r>
            <a:endParaRPr b="0" i="0" sz="3900" u="none" cap="none" strike="noStrike"/>
          </a:p>
        </p:txBody>
      </p:sp>
      <p:sp>
        <p:nvSpPr>
          <p:cNvPr id="182" name="Google Shape;182;p29"/>
          <p:cNvSpPr/>
          <p:nvPr/>
        </p:nvSpPr>
        <p:spPr>
          <a:xfrm>
            <a:off x="793790" y="2040969"/>
            <a:ext cx="13042821" cy="64269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Conecta un nodo </a:t>
            </a:r>
            <a:r>
              <a:rPr b="1" i="0" lang="en-US" sz="1550" u="none" cap="none" strike="noStrike">
                <a:solidFill>
                  <a:srgbClr val="D6E5EF"/>
                </a:solidFill>
                <a:latin typeface="Roboto"/>
                <a:ea typeface="Roboto"/>
                <a:cs typeface="Roboto"/>
                <a:sym typeface="Roboto"/>
              </a:rPr>
              <a:t>inject</a:t>
            </a:r>
            <a:r>
              <a:rPr b="0" i="0" lang="en-US" sz="1550" u="none" cap="none" strike="noStrike">
                <a:solidFill>
                  <a:srgbClr val="D6E5EF"/>
                </a:solidFill>
                <a:latin typeface="Roboto"/>
                <a:ea typeface="Roboto"/>
                <a:cs typeface="Roboto"/>
                <a:sym typeface="Roboto"/>
              </a:rPr>
              <a:t> (entrada) con un nodo </a:t>
            </a:r>
            <a:r>
              <a:rPr b="1" i="0" lang="en-US" sz="1550" u="none" cap="none" strike="noStrike">
                <a:solidFill>
                  <a:srgbClr val="D6E5EF"/>
                </a:solidFill>
                <a:latin typeface="Roboto"/>
                <a:ea typeface="Roboto"/>
                <a:cs typeface="Roboto"/>
                <a:sym typeface="Roboto"/>
              </a:rPr>
              <a:t>debug</a:t>
            </a:r>
            <a:r>
              <a:rPr b="0" i="0" lang="en-US" sz="1550" u="none" cap="none" strike="noStrike">
                <a:solidFill>
                  <a:srgbClr val="D6E5EF"/>
                </a:solidFill>
                <a:latin typeface="Roboto"/>
                <a:ea typeface="Roboto"/>
                <a:cs typeface="Roboto"/>
                <a:sym typeface="Roboto"/>
              </a:rPr>
              <a:t> (salida) para crear tu primer flujo. El nodo inject toma la marca de tiempo actual y la envía como </a:t>
            </a:r>
            <a:r>
              <a:rPr b="0" i="0" lang="en-US" sz="1550" u="none" cap="none" strike="noStrike">
                <a:solidFill>
                  <a:srgbClr val="D6E5EF"/>
                </a:solidFill>
                <a:highlight>
                  <a:srgbClr val="2D3440"/>
                </a:highlight>
                <a:latin typeface="Consolas"/>
                <a:ea typeface="Consolas"/>
                <a:cs typeface="Consolas"/>
                <a:sym typeface="Consolas"/>
              </a:rPr>
              <a:t>msg.payload</a:t>
            </a:r>
            <a:r>
              <a:rPr b="0" i="0" lang="en-US" sz="1550" u="none" cap="none" strike="noStrike">
                <a:solidFill>
                  <a:srgbClr val="D6E5EF"/>
                </a:solidFill>
                <a:latin typeface="Roboto"/>
                <a:ea typeface="Roboto"/>
                <a:cs typeface="Roboto"/>
                <a:sym typeface="Roboto"/>
              </a:rPr>
              <a:t> a través del puerto de salida.</a:t>
            </a:r>
            <a:endParaRPr b="0" i="0" sz="1550" u="none" cap="none" strike="noStrike"/>
          </a:p>
        </p:txBody>
      </p:sp>
      <p:sp>
        <p:nvSpPr>
          <p:cNvPr id="183" name="Google Shape;183;p29"/>
          <p:cNvSpPr/>
          <p:nvPr/>
        </p:nvSpPr>
        <p:spPr>
          <a:xfrm>
            <a:off x="793790" y="3105269"/>
            <a:ext cx="3757136"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Paso 1 — Arrastrar el nodo Inject</a:t>
            </a:r>
            <a:endParaRPr b="0" i="0" sz="1950" u="none" cap="none" strike="noStrike"/>
          </a:p>
        </p:txBody>
      </p:sp>
      <p:pic>
        <p:nvPicPr>
          <p:cNvPr descr="preencoded.png" id="184" name="Google Shape;184;p29"/>
          <p:cNvPicPr preferRelativeResize="0"/>
          <p:nvPr/>
        </p:nvPicPr>
        <p:blipFill rotWithShape="1">
          <a:blip r:embed="rId3">
            <a:alphaModFix/>
          </a:blip>
          <a:srcRect b="0" l="0" r="0" t="0"/>
          <a:stretch/>
        </p:blipFill>
        <p:spPr>
          <a:xfrm>
            <a:off x="793790" y="3638669"/>
            <a:ext cx="4091940" cy="2720340"/>
          </a:xfrm>
          <a:prstGeom prst="rect">
            <a:avLst/>
          </a:prstGeom>
          <a:noFill/>
          <a:ln>
            <a:noFill/>
          </a:ln>
        </p:spPr>
      </p:pic>
      <p:sp>
        <p:nvSpPr>
          <p:cNvPr id="185" name="Google Shape;185;p29"/>
          <p:cNvSpPr/>
          <p:nvPr/>
        </p:nvSpPr>
        <p:spPr>
          <a:xfrm>
            <a:off x="793790" y="6582251"/>
            <a:ext cx="6279356"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Arrastra el nodo </a:t>
            </a:r>
            <a:r>
              <a:rPr b="1" i="0" lang="en-US" sz="1550" u="none" cap="none" strike="noStrike">
                <a:solidFill>
                  <a:srgbClr val="D6E5EF"/>
                </a:solidFill>
                <a:latin typeface="Roboto"/>
                <a:ea typeface="Roboto"/>
                <a:cs typeface="Roboto"/>
                <a:sym typeface="Roboto"/>
              </a:rPr>
              <a:t>inject</a:t>
            </a:r>
            <a:r>
              <a:rPr b="0" i="0" lang="en-US" sz="1550" u="none" cap="none" strike="noStrike">
                <a:solidFill>
                  <a:srgbClr val="D6E5EF"/>
                </a:solidFill>
                <a:latin typeface="Roboto"/>
                <a:ea typeface="Roboto"/>
                <a:cs typeface="Roboto"/>
                <a:sym typeface="Roboto"/>
              </a:rPr>
              <a:t> desde la paleta al espacio de trabajo principal.</a:t>
            </a:r>
            <a:endParaRPr b="0" i="0" sz="1550" u="none" cap="none" strike="noStrike"/>
          </a:p>
        </p:txBody>
      </p:sp>
      <p:sp>
        <p:nvSpPr>
          <p:cNvPr id="186" name="Google Shape;186;p29"/>
          <p:cNvSpPr/>
          <p:nvPr/>
        </p:nvSpPr>
        <p:spPr>
          <a:xfrm>
            <a:off x="7564874" y="3105269"/>
            <a:ext cx="3390543"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Paso 2 — Conectar con Debug</a:t>
            </a:r>
            <a:endParaRPr b="0" i="0" sz="1950" u="none" cap="none" strike="noStrike"/>
          </a:p>
        </p:txBody>
      </p:sp>
      <p:pic>
        <p:nvPicPr>
          <p:cNvPr descr="preencoded.png" id="187" name="Google Shape;187;p29"/>
          <p:cNvPicPr preferRelativeResize="0"/>
          <p:nvPr/>
        </p:nvPicPr>
        <p:blipFill rotWithShape="1">
          <a:blip r:embed="rId4">
            <a:alphaModFix/>
          </a:blip>
          <a:srcRect b="0" l="0" r="0" t="0"/>
          <a:stretch/>
        </p:blipFill>
        <p:spPr>
          <a:xfrm>
            <a:off x="7564874" y="3638669"/>
            <a:ext cx="5798820" cy="2529840"/>
          </a:xfrm>
          <a:prstGeom prst="rect">
            <a:avLst/>
          </a:prstGeom>
          <a:noFill/>
          <a:ln>
            <a:noFill/>
          </a:ln>
        </p:spPr>
      </p:pic>
      <p:sp>
        <p:nvSpPr>
          <p:cNvPr id="188" name="Google Shape;188;p29"/>
          <p:cNvSpPr/>
          <p:nvPr/>
        </p:nvSpPr>
        <p:spPr>
          <a:xfrm>
            <a:off x="7564874" y="6391751"/>
            <a:ext cx="6279356"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Arrastra un nodo </a:t>
            </a:r>
            <a:r>
              <a:rPr b="1" i="0" lang="en-US" sz="1550" u="none" cap="none" strike="noStrike">
                <a:solidFill>
                  <a:srgbClr val="D6E5EF"/>
                </a:solidFill>
                <a:latin typeface="Roboto"/>
                <a:ea typeface="Roboto"/>
                <a:cs typeface="Roboto"/>
                <a:sym typeface="Roboto"/>
              </a:rPr>
              <a:t>debug</a:t>
            </a:r>
            <a:r>
              <a:rPr b="0" i="0" lang="en-US" sz="1550" u="none" cap="none" strike="noStrike">
                <a:solidFill>
                  <a:srgbClr val="D6E5EF"/>
                </a:solidFill>
                <a:latin typeface="Roboto"/>
                <a:ea typeface="Roboto"/>
                <a:cs typeface="Roboto"/>
                <a:sym typeface="Roboto"/>
              </a:rPr>
              <a:t> y conéctalo al puerto de salida del nodo inject. Los nodos con círculo azul tienen cambios no desplegados.</a:t>
            </a:r>
            <a:endParaRPr b="0" i="0" sz="15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p:nvPr/>
        </p:nvSpPr>
        <p:spPr>
          <a:xfrm>
            <a:off x="1717715" y="429339"/>
            <a:ext cx="4477941" cy="443627"/>
          </a:xfrm>
          <a:prstGeom prst="rect">
            <a:avLst/>
          </a:prstGeom>
          <a:noFill/>
          <a:ln>
            <a:noFill/>
          </a:ln>
        </p:spPr>
        <p:txBody>
          <a:bodyPr anchorCtr="0" anchor="t" bIns="0" lIns="0" spcFirstLastPara="1" rIns="0" wrap="square" tIns="0">
            <a:noAutofit/>
          </a:bodyPr>
          <a:lstStyle/>
          <a:p>
            <a:pPr indent="0" lvl="0" marL="0" marR="0" rtl="0" algn="l">
              <a:lnSpc>
                <a:spcPct val="125454"/>
              </a:lnSpc>
              <a:spcBef>
                <a:spcPts val="0"/>
              </a:spcBef>
              <a:spcAft>
                <a:spcPts val="0"/>
              </a:spcAft>
              <a:buClr>
                <a:srgbClr val="76B9FF"/>
              </a:buClr>
              <a:buSzPts val="2750"/>
              <a:buFont typeface="Roboto Slab"/>
              <a:buNone/>
            </a:pPr>
            <a:r>
              <a:rPr b="0" i="0" lang="en-US" sz="2750" u="none" cap="none" strike="noStrike">
                <a:solidFill>
                  <a:srgbClr val="76B9FF"/>
                </a:solidFill>
                <a:latin typeface="Roboto Slab"/>
                <a:ea typeface="Roboto Slab"/>
                <a:cs typeface="Roboto Slab"/>
                <a:sym typeface="Roboto Slab"/>
              </a:rPr>
              <a:t>Probando un Flujo Sencillo</a:t>
            </a:r>
            <a:endParaRPr b="0" i="0" sz="2750" u="none" cap="none" strike="noStrike"/>
          </a:p>
        </p:txBody>
      </p:sp>
      <p:pic>
        <p:nvPicPr>
          <p:cNvPr descr="preencoded.png" id="195" name="Google Shape;195;p30"/>
          <p:cNvPicPr preferRelativeResize="0"/>
          <p:nvPr/>
        </p:nvPicPr>
        <p:blipFill rotWithShape="1">
          <a:blip r:embed="rId3">
            <a:alphaModFix/>
          </a:blip>
          <a:srcRect b="0" l="0" r="0" t="0"/>
          <a:stretch/>
        </p:blipFill>
        <p:spPr>
          <a:xfrm>
            <a:off x="4497775" y="1278736"/>
            <a:ext cx="5634825" cy="3344315"/>
          </a:xfrm>
          <a:prstGeom prst="rect">
            <a:avLst/>
          </a:prstGeom>
          <a:noFill/>
          <a:ln>
            <a:noFill/>
          </a:ln>
        </p:spPr>
      </p:pic>
      <p:sp>
        <p:nvSpPr>
          <p:cNvPr id="196" name="Google Shape;196;p30"/>
          <p:cNvSpPr/>
          <p:nvPr/>
        </p:nvSpPr>
        <p:spPr>
          <a:xfrm>
            <a:off x="8337366" y="3442303"/>
            <a:ext cx="1634400" cy="315000"/>
          </a:xfrm>
          <a:prstGeom prst="rect">
            <a:avLst/>
          </a:prstGeom>
          <a:noFill/>
          <a:ln>
            <a:noFill/>
          </a:ln>
        </p:spPr>
        <p:txBody>
          <a:bodyPr anchorCtr="0" anchor="t" bIns="0" lIns="0" spcFirstLastPara="1" rIns="0" wrap="square" tIns="0">
            <a:noAutofit/>
          </a:bodyPr>
          <a:lstStyle/>
          <a:p>
            <a:pPr indent="0" lvl="0" marL="0" marR="0" rtl="0" algn="ctr">
              <a:lnSpc>
                <a:spcPct val="125641"/>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Verificar</a:t>
            </a:r>
            <a:endParaRPr b="0" i="0" sz="1950" u="none" cap="none" strike="noStrike"/>
          </a:p>
        </p:txBody>
      </p:sp>
      <p:sp>
        <p:nvSpPr>
          <p:cNvPr id="197" name="Google Shape;197;p30"/>
          <p:cNvSpPr/>
          <p:nvPr/>
        </p:nvSpPr>
        <p:spPr>
          <a:xfrm>
            <a:off x="6559811" y="3442303"/>
            <a:ext cx="1634400" cy="315000"/>
          </a:xfrm>
          <a:prstGeom prst="rect">
            <a:avLst/>
          </a:prstGeom>
          <a:noFill/>
          <a:ln>
            <a:noFill/>
          </a:ln>
        </p:spPr>
        <p:txBody>
          <a:bodyPr anchorCtr="0" anchor="t" bIns="0" lIns="0" spcFirstLastPara="1" rIns="0" wrap="square" tIns="0">
            <a:noAutofit/>
          </a:bodyPr>
          <a:lstStyle/>
          <a:p>
            <a:pPr indent="0" lvl="0" marL="0" marR="0" rtl="0" algn="ctr">
              <a:lnSpc>
                <a:spcPct val="125641"/>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Inyectar</a:t>
            </a:r>
            <a:endParaRPr b="0" i="0" sz="1950" u="none" cap="none" strike="noStrike"/>
          </a:p>
        </p:txBody>
      </p:sp>
      <p:sp>
        <p:nvSpPr>
          <p:cNvPr id="198" name="Google Shape;198;p30"/>
          <p:cNvSpPr/>
          <p:nvPr/>
        </p:nvSpPr>
        <p:spPr>
          <a:xfrm>
            <a:off x="4782220" y="3442303"/>
            <a:ext cx="1634400" cy="315000"/>
          </a:xfrm>
          <a:prstGeom prst="rect">
            <a:avLst/>
          </a:prstGeom>
          <a:noFill/>
          <a:ln>
            <a:noFill/>
          </a:ln>
        </p:spPr>
        <p:txBody>
          <a:bodyPr anchorCtr="0" anchor="t" bIns="0" lIns="0" spcFirstLastPara="1" rIns="0" wrap="square" tIns="0">
            <a:noAutofit/>
          </a:bodyPr>
          <a:lstStyle/>
          <a:p>
            <a:pPr indent="0" lvl="0" marL="0" marR="0" rtl="0" algn="ctr">
              <a:lnSpc>
                <a:spcPct val="125641"/>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Deploy</a:t>
            </a:r>
            <a:endParaRPr b="0" i="0" sz="1950" u="none" cap="none" strike="noStrike"/>
          </a:p>
        </p:txBody>
      </p:sp>
      <p:sp>
        <p:nvSpPr>
          <p:cNvPr id="199" name="Google Shape;199;p30"/>
          <p:cNvSpPr/>
          <p:nvPr/>
        </p:nvSpPr>
        <p:spPr>
          <a:xfrm>
            <a:off x="937892" y="4050589"/>
            <a:ext cx="4842000" cy="2217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6B9FF"/>
              </a:buClr>
              <a:buSzPts val="1350"/>
              <a:buFont typeface="Roboto Slab"/>
              <a:buNone/>
            </a:pPr>
            <a:r>
              <a:rPr b="0" i="0" lang="en-US" sz="1950" u="none" cap="none" strike="noStrike">
                <a:solidFill>
                  <a:srgbClr val="76B9FF"/>
                </a:solidFill>
                <a:latin typeface="Roboto Slab"/>
                <a:ea typeface="Roboto Slab"/>
                <a:cs typeface="Roboto Slab"/>
                <a:sym typeface="Roboto Slab"/>
              </a:rPr>
              <a:t>Desplegar el flujo</a:t>
            </a:r>
            <a:endParaRPr b="0" i="0" sz="1950" u="none" cap="none" strike="noStrike"/>
          </a:p>
        </p:txBody>
      </p:sp>
      <p:pic>
        <p:nvPicPr>
          <p:cNvPr descr="preencoded.png" id="200" name="Google Shape;200;p30"/>
          <p:cNvPicPr preferRelativeResize="0"/>
          <p:nvPr/>
        </p:nvPicPr>
        <p:blipFill rotWithShape="1">
          <a:blip r:embed="rId4">
            <a:alphaModFix/>
          </a:blip>
          <a:srcRect b="0" l="0" r="0" t="0"/>
          <a:stretch/>
        </p:blipFill>
        <p:spPr>
          <a:xfrm>
            <a:off x="937900" y="4417924"/>
            <a:ext cx="6204129" cy="1675575"/>
          </a:xfrm>
          <a:prstGeom prst="rect">
            <a:avLst/>
          </a:prstGeom>
          <a:noFill/>
          <a:ln>
            <a:noFill/>
          </a:ln>
        </p:spPr>
      </p:pic>
      <p:sp>
        <p:nvSpPr>
          <p:cNvPr id="201" name="Google Shape;201;p30"/>
          <p:cNvSpPr/>
          <p:nvPr/>
        </p:nvSpPr>
        <p:spPr>
          <a:xfrm>
            <a:off x="992315" y="6379484"/>
            <a:ext cx="5424300" cy="3894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D6E5EF"/>
              </a:buClr>
              <a:buSzPts val="1100"/>
              <a:buFont typeface="Roboto"/>
              <a:buNone/>
            </a:pPr>
            <a:r>
              <a:rPr b="0" i="0" lang="en-US" sz="1550" u="none" cap="none" strike="noStrike">
                <a:solidFill>
                  <a:srgbClr val="D6E5EF"/>
                </a:solidFill>
                <a:latin typeface="Roboto"/>
                <a:ea typeface="Roboto"/>
                <a:cs typeface="Roboto"/>
                <a:sym typeface="Roboto"/>
              </a:rPr>
              <a:t>Tras hacer clic en </a:t>
            </a:r>
            <a:r>
              <a:rPr b="1" i="0" lang="en-US" sz="1550" u="none" cap="none" strike="noStrike">
                <a:solidFill>
                  <a:srgbClr val="D6E5EF"/>
                </a:solidFill>
                <a:latin typeface="Roboto"/>
                <a:ea typeface="Roboto"/>
                <a:cs typeface="Roboto"/>
                <a:sym typeface="Roboto"/>
              </a:rPr>
              <a:t>Deploy</a:t>
            </a:r>
            <a:r>
              <a:rPr b="0" i="0" lang="en-US" sz="1550" u="none" cap="none" strike="noStrike">
                <a:solidFill>
                  <a:srgbClr val="D6E5EF"/>
                </a:solidFill>
                <a:latin typeface="Roboto"/>
                <a:ea typeface="Roboto"/>
                <a:cs typeface="Roboto"/>
                <a:sym typeface="Roboto"/>
              </a:rPr>
              <a:t>, el botón queda en gris y desaparecen los círculos azules sobre los nodos.</a:t>
            </a:r>
            <a:endParaRPr b="0" i="0" sz="1550" u="none" cap="none" strike="noStrike"/>
          </a:p>
        </p:txBody>
      </p:sp>
      <p:sp>
        <p:nvSpPr>
          <p:cNvPr id="202" name="Google Shape;202;p30"/>
          <p:cNvSpPr/>
          <p:nvPr/>
        </p:nvSpPr>
        <p:spPr>
          <a:xfrm>
            <a:off x="7495824" y="4003949"/>
            <a:ext cx="4842000" cy="31500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76B9FF"/>
              </a:buClr>
              <a:buSzPts val="1350"/>
              <a:buFont typeface="Roboto Slab"/>
              <a:buNone/>
            </a:pPr>
            <a:r>
              <a:rPr b="0" i="0" lang="en-US" sz="1950" u="none" cap="none" strike="noStrike">
                <a:solidFill>
                  <a:srgbClr val="76B9FF"/>
                </a:solidFill>
                <a:latin typeface="Roboto Slab"/>
                <a:ea typeface="Roboto Slab"/>
                <a:cs typeface="Roboto Slab"/>
                <a:sym typeface="Roboto Slab"/>
              </a:rPr>
              <a:t>Activar el nodo Debug</a:t>
            </a:r>
            <a:endParaRPr b="0" i="0" sz="1950" u="none" cap="none" strike="noStrike"/>
          </a:p>
        </p:txBody>
      </p:sp>
      <p:pic>
        <p:nvPicPr>
          <p:cNvPr descr="preencoded.png" id="203" name="Google Shape;203;p30"/>
          <p:cNvPicPr preferRelativeResize="0"/>
          <p:nvPr/>
        </p:nvPicPr>
        <p:blipFill rotWithShape="1">
          <a:blip r:embed="rId5">
            <a:alphaModFix/>
          </a:blip>
          <a:srcRect b="0" l="0" r="0" t="0"/>
          <a:stretch/>
        </p:blipFill>
        <p:spPr>
          <a:xfrm>
            <a:off x="7495818" y="4417933"/>
            <a:ext cx="5424247" cy="1675567"/>
          </a:xfrm>
          <a:prstGeom prst="rect">
            <a:avLst/>
          </a:prstGeom>
          <a:noFill/>
          <a:ln>
            <a:noFill/>
          </a:ln>
        </p:spPr>
      </p:pic>
      <p:sp>
        <p:nvSpPr>
          <p:cNvPr id="204" name="Google Shape;204;p30"/>
          <p:cNvSpPr/>
          <p:nvPr/>
        </p:nvSpPr>
        <p:spPr>
          <a:xfrm>
            <a:off x="7495818" y="6379480"/>
            <a:ext cx="5424300" cy="3894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D6E5EF"/>
              </a:buClr>
              <a:buSzPts val="1100"/>
              <a:buFont typeface="Roboto"/>
              <a:buNone/>
            </a:pPr>
            <a:r>
              <a:rPr b="0" i="0" lang="en-US" sz="1550" u="none" cap="none" strike="noStrike">
                <a:solidFill>
                  <a:srgbClr val="D6E5EF"/>
                </a:solidFill>
                <a:latin typeface="Roboto"/>
                <a:ea typeface="Roboto"/>
                <a:cs typeface="Roboto"/>
                <a:sym typeface="Roboto"/>
              </a:rPr>
              <a:t>Si no ves mensajes, comprueba que el nodo debug esté </a:t>
            </a:r>
            <a:r>
              <a:rPr b="1" i="0" lang="en-US" sz="1550" u="none" cap="none" strike="noStrike">
                <a:solidFill>
                  <a:srgbClr val="D6E5EF"/>
                </a:solidFill>
                <a:latin typeface="Roboto"/>
                <a:ea typeface="Roboto"/>
                <a:cs typeface="Roboto"/>
                <a:sym typeface="Roboto"/>
              </a:rPr>
              <a:t>activado</a:t>
            </a:r>
            <a:r>
              <a:rPr b="0" i="0" lang="en-US" sz="1550" u="none" cap="none" strike="noStrike">
                <a:solidFill>
                  <a:srgbClr val="D6E5EF"/>
                </a:solidFill>
                <a:latin typeface="Roboto"/>
                <a:ea typeface="Roboto"/>
                <a:cs typeface="Roboto"/>
                <a:sym typeface="Roboto"/>
              </a:rPr>
              <a:t> mediante el botón de conmutación en su lado derecho.</a:t>
            </a:r>
            <a:endParaRPr b="0" i="0" sz="15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preencoded.png" id="210" name="Google Shape;210;p3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11" name="Google Shape;211;p31"/>
          <p:cNvSpPr/>
          <p:nvPr/>
        </p:nvSpPr>
        <p:spPr>
          <a:xfrm>
            <a:off x="777240" y="559356"/>
            <a:ext cx="7589520" cy="121467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76B9FF"/>
              </a:buClr>
              <a:buSzPts val="3800"/>
              <a:buFont typeface="Roboto Slab"/>
              <a:buNone/>
            </a:pPr>
            <a:r>
              <a:rPr b="0" i="0" lang="en-US" sz="3800" u="none" cap="none" strike="noStrike">
                <a:solidFill>
                  <a:srgbClr val="76B9FF"/>
                </a:solidFill>
                <a:latin typeface="Roboto Slab"/>
                <a:ea typeface="Roboto Slab"/>
                <a:cs typeface="Roboto Slab"/>
                <a:sym typeface="Roboto Slab"/>
              </a:rPr>
              <a:t>Cambiar la Configuración de un Nodo</a:t>
            </a:r>
            <a:endParaRPr b="0" i="0" sz="3800" u="none" cap="none" strike="noStrike"/>
          </a:p>
        </p:txBody>
      </p:sp>
      <p:sp>
        <p:nvSpPr>
          <p:cNvPr id="212" name="Google Shape;212;p31"/>
          <p:cNvSpPr/>
          <p:nvPr/>
        </p:nvSpPr>
        <p:spPr>
          <a:xfrm>
            <a:off x="777240" y="2059424"/>
            <a:ext cx="7589520" cy="61507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500"/>
              <a:buFont typeface="Roboto"/>
              <a:buNone/>
            </a:pPr>
            <a:r>
              <a:rPr b="0" i="0" lang="en-US" sz="1500" u="none" cap="none" strike="noStrike">
                <a:solidFill>
                  <a:srgbClr val="D6E5EF"/>
                </a:solidFill>
                <a:latin typeface="Roboto"/>
                <a:ea typeface="Roboto"/>
                <a:cs typeface="Roboto"/>
                <a:sym typeface="Roboto"/>
              </a:rPr>
              <a:t>Para automatizar la inyección, haz </a:t>
            </a:r>
            <a:r>
              <a:rPr b="1" i="0" lang="en-US" sz="1500" u="none" cap="none" strike="noStrike">
                <a:solidFill>
                  <a:srgbClr val="D6E5EF"/>
                </a:solidFill>
                <a:latin typeface="Roboto"/>
                <a:ea typeface="Roboto"/>
                <a:cs typeface="Roboto"/>
                <a:sym typeface="Roboto"/>
              </a:rPr>
              <a:t>doble clic</a:t>
            </a:r>
            <a:r>
              <a:rPr b="0" i="0" lang="en-US" sz="1500" u="none" cap="none" strike="noStrike">
                <a:solidFill>
                  <a:srgbClr val="D6E5EF"/>
                </a:solidFill>
                <a:latin typeface="Roboto"/>
                <a:ea typeface="Roboto"/>
                <a:cs typeface="Roboto"/>
                <a:sym typeface="Roboto"/>
              </a:rPr>
              <a:t> en el nodo inject para abrir sus propiedades. Configura:</a:t>
            </a:r>
            <a:endParaRPr b="0" i="0" sz="1500" u="none" cap="none" strike="noStrike"/>
          </a:p>
        </p:txBody>
      </p:sp>
      <p:sp>
        <p:nvSpPr>
          <p:cNvPr id="213" name="Google Shape;213;p31"/>
          <p:cNvSpPr/>
          <p:nvPr/>
        </p:nvSpPr>
        <p:spPr>
          <a:xfrm>
            <a:off x="777240" y="2888456"/>
            <a:ext cx="7589520" cy="1467088"/>
          </a:xfrm>
          <a:prstGeom prst="roundRect">
            <a:avLst>
              <a:gd fmla="val 1987" name="adj"/>
            </a:avLst>
          </a:prstGeom>
          <a:solidFill>
            <a:srgbClr val="202733"/>
          </a:solidFill>
          <a:ln cap="flat" cmpd="sng" w="22850">
            <a:solidFill>
              <a:srgbClr val="585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1"/>
          <p:cNvSpPr/>
          <p:nvPr/>
        </p:nvSpPr>
        <p:spPr>
          <a:xfrm>
            <a:off x="800100" y="2911316"/>
            <a:ext cx="777240" cy="1421368"/>
          </a:xfrm>
          <a:prstGeom prst="roundRect">
            <a:avLst>
              <a:gd fmla="val 221"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1"/>
          <p:cNvSpPr/>
          <p:nvPr/>
        </p:nvSpPr>
        <p:spPr>
          <a:xfrm>
            <a:off x="1042988" y="3439835"/>
            <a:ext cx="291465" cy="36433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2250"/>
              <a:buFont typeface="Roboto Slab"/>
              <a:buNone/>
            </a:pPr>
            <a:r>
              <a:rPr b="0" i="0" lang="en-US" sz="2250" u="none" cap="none" strike="noStrike">
                <a:solidFill>
                  <a:srgbClr val="D6E5EF"/>
                </a:solidFill>
                <a:latin typeface="Roboto Slab"/>
                <a:ea typeface="Roboto Slab"/>
                <a:cs typeface="Roboto Slab"/>
                <a:sym typeface="Roboto Slab"/>
              </a:rPr>
              <a:t>1</a:t>
            </a:r>
            <a:endParaRPr b="0" i="0" sz="2250" u="none" cap="none" strike="noStrike"/>
          </a:p>
        </p:txBody>
      </p:sp>
      <p:sp>
        <p:nvSpPr>
          <p:cNvPr id="216" name="Google Shape;216;p31"/>
          <p:cNvSpPr/>
          <p:nvPr/>
        </p:nvSpPr>
        <p:spPr>
          <a:xfrm>
            <a:off x="1767602" y="3105626"/>
            <a:ext cx="3918466" cy="303609"/>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D6E5EF"/>
              </a:buClr>
              <a:buSzPts val="1900"/>
              <a:buFont typeface="Roboto Slab"/>
              <a:buNone/>
            </a:pPr>
            <a:r>
              <a:rPr b="0" i="0" lang="en-US" sz="1900" u="none" cap="none" strike="noStrike">
                <a:solidFill>
                  <a:srgbClr val="D6E5EF"/>
                </a:solidFill>
                <a:latin typeface="Roboto Slab"/>
                <a:ea typeface="Roboto Slab"/>
                <a:cs typeface="Roboto Slab"/>
                <a:sym typeface="Roboto Slab"/>
              </a:rPr>
              <a:t>Inyección automática al desplegar</a:t>
            </a:r>
            <a:endParaRPr b="0" i="0" sz="1900" u="none" cap="none" strike="noStrike"/>
          </a:p>
        </p:txBody>
      </p:sp>
      <p:sp>
        <p:nvSpPr>
          <p:cNvPr id="217" name="Google Shape;217;p31"/>
          <p:cNvSpPr/>
          <p:nvPr/>
        </p:nvSpPr>
        <p:spPr>
          <a:xfrm>
            <a:off x="1767602" y="3523298"/>
            <a:ext cx="6381988" cy="61507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500"/>
              <a:buFont typeface="Roboto"/>
              <a:buNone/>
            </a:pPr>
            <a:r>
              <a:rPr b="0" i="0" lang="en-US" sz="1500" u="none" cap="none" strike="noStrike">
                <a:solidFill>
                  <a:srgbClr val="D6E5EF"/>
                </a:solidFill>
                <a:latin typeface="Roboto"/>
                <a:ea typeface="Roboto"/>
                <a:cs typeface="Roboto"/>
                <a:sym typeface="Roboto"/>
              </a:rPr>
              <a:t>Activa </a:t>
            </a:r>
            <a:r>
              <a:rPr b="1" i="0" lang="en-US" sz="1500" u="none" cap="none" strike="noStrike">
                <a:solidFill>
                  <a:srgbClr val="D6E5EF"/>
                </a:solidFill>
                <a:latin typeface="Roboto"/>
                <a:ea typeface="Roboto"/>
                <a:cs typeface="Roboto"/>
                <a:sym typeface="Roboto"/>
              </a:rPr>
              <a:t>«Inject once after 0.1 seconds»</a:t>
            </a:r>
            <a:r>
              <a:rPr b="0" i="0" lang="en-US" sz="1500" u="none" cap="none" strike="noStrike">
                <a:solidFill>
                  <a:srgbClr val="D6E5EF"/>
                </a:solidFill>
                <a:latin typeface="Roboto"/>
                <a:ea typeface="Roboto"/>
                <a:cs typeface="Roboto"/>
                <a:sym typeface="Roboto"/>
              </a:rPr>
              <a:t> para que el nodo se dispare justo tras el despliegue.</a:t>
            </a:r>
            <a:endParaRPr b="0" i="0" sz="1500" u="none" cap="none" strike="noStrike"/>
          </a:p>
        </p:txBody>
      </p:sp>
      <p:sp>
        <p:nvSpPr>
          <p:cNvPr id="218" name="Google Shape;218;p31"/>
          <p:cNvSpPr/>
          <p:nvPr/>
        </p:nvSpPr>
        <p:spPr>
          <a:xfrm>
            <a:off x="777240" y="4545806"/>
            <a:ext cx="7589520" cy="1467088"/>
          </a:xfrm>
          <a:prstGeom prst="roundRect">
            <a:avLst>
              <a:gd fmla="val 1987" name="adj"/>
            </a:avLst>
          </a:prstGeom>
          <a:solidFill>
            <a:srgbClr val="202733"/>
          </a:solidFill>
          <a:ln cap="flat" cmpd="sng" w="22850">
            <a:solidFill>
              <a:srgbClr val="585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31"/>
          <p:cNvSpPr/>
          <p:nvPr/>
        </p:nvSpPr>
        <p:spPr>
          <a:xfrm>
            <a:off x="800100" y="4568666"/>
            <a:ext cx="777240" cy="1421368"/>
          </a:xfrm>
          <a:prstGeom prst="roundRect">
            <a:avLst>
              <a:gd fmla="val 221"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1"/>
          <p:cNvSpPr/>
          <p:nvPr/>
        </p:nvSpPr>
        <p:spPr>
          <a:xfrm>
            <a:off x="1042988" y="5097185"/>
            <a:ext cx="291465" cy="36433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2250"/>
              <a:buFont typeface="Roboto Slab"/>
              <a:buNone/>
            </a:pPr>
            <a:r>
              <a:rPr b="0" i="0" lang="en-US" sz="2250" u="none" cap="none" strike="noStrike">
                <a:solidFill>
                  <a:srgbClr val="D6E5EF"/>
                </a:solidFill>
                <a:latin typeface="Roboto Slab"/>
                <a:ea typeface="Roboto Slab"/>
                <a:cs typeface="Roboto Slab"/>
                <a:sym typeface="Roboto Slab"/>
              </a:rPr>
              <a:t>2</a:t>
            </a:r>
            <a:endParaRPr b="0" i="0" sz="2250" u="none" cap="none" strike="noStrike"/>
          </a:p>
        </p:txBody>
      </p:sp>
      <p:sp>
        <p:nvSpPr>
          <p:cNvPr id="221" name="Google Shape;221;p31"/>
          <p:cNvSpPr/>
          <p:nvPr/>
        </p:nvSpPr>
        <p:spPr>
          <a:xfrm>
            <a:off x="1767602" y="4762976"/>
            <a:ext cx="2579013" cy="303609"/>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D6E5EF"/>
              </a:buClr>
              <a:buSzPts val="1900"/>
              <a:buFont typeface="Roboto Slab"/>
              <a:buNone/>
            </a:pPr>
            <a:r>
              <a:rPr b="0" i="0" lang="en-US" sz="1900" u="none" cap="none" strike="noStrike">
                <a:solidFill>
                  <a:srgbClr val="D6E5EF"/>
                </a:solidFill>
                <a:latin typeface="Roboto Slab"/>
                <a:ea typeface="Roboto Slab"/>
                <a:cs typeface="Roboto Slab"/>
                <a:sym typeface="Roboto Slab"/>
              </a:rPr>
              <a:t>Intervalo de repetición</a:t>
            </a:r>
            <a:endParaRPr b="0" i="0" sz="1900" u="none" cap="none" strike="noStrike"/>
          </a:p>
        </p:txBody>
      </p:sp>
      <p:sp>
        <p:nvSpPr>
          <p:cNvPr id="222" name="Google Shape;222;p31"/>
          <p:cNvSpPr/>
          <p:nvPr/>
        </p:nvSpPr>
        <p:spPr>
          <a:xfrm>
            <a:off x="1767602" y="5180647"/>
            <a:ext cx="6381988" cy="61507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500"/>
              <a:buFont typeface="Roboto"/>
              <a:buNone/>
            </a:pPr>
            <a:r>
              <a:rPr b="0" i="0" lang="en-US" sz="1500" u="none" cap="none" strike="noStrike">
                <a:solidFill>
                  <a:srgbClr val="D6E5EF"/>
                </a:solidFill>
                <a:latin typeface="Roboto"/>
                <a:ea typeface="Roboto"/>
                <a:cs typeface="Roboto"/>
                <a:sym typeface="Roboto"/>
              </a:rPr>
              <a:t>Configura </a:t>
            </a:r>
            <a:r>
              <a:rPr b="1" i="0" lang="en-US" sz="1500" u="none" cap="none" strike="noStrike">
                <a:solidFill>
                  <a:srgbClr val="D6E5EF"/>
                </a:solidFill>
                <a:latin typeface="Roboto"/>
                <a:ea typeface="Roboto"/>
                <a:cs typeface="Roboto"/>
                <a:sym typeface="Roboto"/>
              </a:rPr>
              <a:t>Repeat → interval → every 30 minutes</a:t>
            </a:r>
            <a:r>
              <a:rPr b="0" i="0" lang="en-US" sz="1500" u="none" cap="none" strike="noStrike">
                <a:solidFill>
                  <a:srgbClr val="D6E5EF"/>
                </a:solidFill>
                <a:latin typeface="Roboto"/>
                <a:ea typeface="Roboto"/>
                <a:cs typeface="Roboto"/>
                <a:sym typeface="Roboto"/>
              </a:rPr>
              <a:t> para obtener datos automáticamente cada media hora.</a:t>
            </a:r>
            <a:endParaRPr b="0" i="0" sz="1500" u="none" cap="none" strike="noStrike"/>
          </a:p>
        </p:txBody>
      </p:sp>
      <p:sp>
        <p:nvSpPr>
          <p:cNvPr id="223" name="Google Shape;223;p31"/>
          <p:cNvSpPr/>
          <p:nvPr/>
        </p:nvSpPr>
        <p:spPr>
          <a:xfrm>
            <a:off x="777240" y="6203156"/>
            <a:ext cx="7589520" cy="1467088"/>
          </a:xfrm>
          <a:prstGeom prst="roundRect">
            <a:avLst>
              <a:gd fmla="val 1987" name="adj"/>
            </a:avLst>
          </a:prstGeom>
          <a:solidFill>
            <a:srgbClr val="202733"/>
          </a:solidFill>
          <a:ln cap="flat" cmpd="sng" w="22850">
            <a:solidFill>
              <a:srgbClr val="585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1"/>
          <p:cNvSpPr/>
          <p:nvPr/>
        </p:nvSpPr>
        <p:spPr>
          <a:xfrm>
            <a:off x="800100" y="6226016"/>
            <a:ext cx="777240" cy="1421368"/>
          </a:xfrm>
          <a:prstGeom prst="roundRect">
            <a:avLst>
              <a:gd fmla="val 221"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1"/>
          <p:cNvSpPr/>
          <p:nvPr/>
        </p:nvSpPr>
        <p:spPr>
          <a:xfrm>
            <a:off x="1042988" y="6754535"/>
            <a:ext cx="291465" cy="364331"/>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D6E5EF"/>
              </a:buClr>
              <a:buSzPts val="2250"/>
              <a:buFont typeface="Roboto Slab"/>
              <a:buNone/>
            </a:pPr>
            <a:r>
              <a:rPr b="0" i="0" lang="en-US" sz="2250" u="none" cap="none" strike="noStrike">
                <a:solidFill>
                  <a:srgbClr val="D6E5EF"/>
                </a:solidFill>
                <a:latin typeface="Roboto Slab"/>
                <a:ea typeface="Roboto Slab"/>
                <a:cs typeface="Roboto Slab"/>
                <a:sym typeface="Roboto Slab"/>
              </a:rPr>
              <a:t>3</a:t>
            </a:r>
            <a:endParaRPr b="0" i="0" sz="2250" u="none" cap="none" strike="noStrike"/>
          </a:p>
        </p:txBody>
      </p:sp>
      <p:sp>
        <p:nvSpPr>
          <p:cNvPr id="226" name="Google Shape;226;p31"/>
          <p:cNvSpPr/>
          <p:nvPr/>
        </p:nvSpPr>
        <p:spPr>
          <a:xfrm>
            <a:off x="1767602" y="6420326"/>
            <a:ext cx="2429113" cy="303609"/>
          </a:xfrm>
          <a:prstGeom prst="rect">
            <a:avLst/>
          </a:prstGeom>
          <a:noFill/>
          <a:ln>
            <a:noFill/>
          </a:ln>
        </p:spPr>
        <p:txBody>
          <a:bodyPr anchorCtr="0" anchor="t" bIns="0" lIns="0" spcFirstLastPara="1" rIns="0" wrap="square" tIns="0">
            <a:noAutofit/>
          </a:bodyPr>
          <a:lstStyle/>
          <a:p>
            <a:pPr indent="0" lvl="0" marL="0" marR="0" rtl="0" algn="l">
              <a:lnSpc>
                <a:spcPct val="123684"/>
              </a:lnSpc>
              <a:spcBef>
                <a:spcPts val="0"/>
              </a:spcBef>
              <a:spcAft>
                <a:spcPts val="0"/>
              </a:spcAft>
              <a:buClr>
                <a:srgbClr val="D6E5EF"/>
              </a:buClr>
              <a:buSzPts val="1900"/>
              <a:buFont typeface="Roboto Slab"/>
              <a:buNone/>
            </a:pPr>
            <a:r>
              <a:rPr b="0" i="0" lang="en-US" sz="1900" u="none" cap="none" strike="noStrike">
                <a:solidFill>
                  <a:srgbClr val="D6E5EF"/>
                </a:solidFill>
                <a:latin typeface="Roboto Slab"/>
                <a:ea typeface="Roboto Slab"/>
                <a:cs typeface="Roboto Slab"/>
                <a:sym typeface="Roboto Slab"/>
              </a:rPr>
              <a:t>Confirmar con Done</a:t>
            </a:r>
            <a:endParaRPr b="0" i="0" sz="1900" u="none" cap="none" strike="noStrike"/>
          </a:p>
        </p:txBody>
      </p:sp>
      <p:sp>
        <p:nvSpPr>
          <p:cNvPr id="227" name="Google Shape;227;p31"/>
          <p:cNvSpPr/>
          <p:nvPr/>
        </p:nvSpPr>
        <p:spPr>
          <a:xfrm>
            <a:off x="1767602" y="6837998"/>
            <a:ext cx="6381988" cy="61507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500"/>
              <a:buFont typeface="Roboto"/>
              <a:buNone/>
            </a:pPr>
            <a:r>
              <a:rPr b="0" i="0" lang="en-US" sz="1500" u="none" cap="none" strike="noStrike">
                <a:solidFill>
                  <a:srgbClr val="D6E5EF"/>
                </a:solidFill>
                <a:latin typeface="Roboto"/>
                <a:ea typeface="Roboto"/>
                <a:cs typeface="Roboto"/>
                <a:sym typeface="Roboto"/>
              </a:rPr>
              <a:t>Haz clic en </a:t>
            </a:r>
            <a:r>
              <a:rPr b="1" i="0" lang="en-US" sz="1500" u="none" cap="none" strike="noStrike">
                <a:solidFill>
                  <a:srgbClr val="D6E5EF"/>
                </a:solidFill>
                <a:latin typeface="Roboto"/>
                <a:ea typeface="Roboto"/>
                <a:cs typeface="Roboto"/>
                <a:sym typeface="Roboto"/>
              </a:rPr>
              <a:t>Done</a:t>
            </a:r>
            <a:r>
              <a:rPr b="0" i="0" lang="en-US" sz="1500" u="none" cap="none" strike="noStrike">
                <a:solidFill>
                  <a:srgbClr val="D6E5EF"/>
                </a:solidFill>
                <a:latin typeface="Roboto"/>
                <a:ea typeface="Roboto"/>
                <a:cs typeface="Roboto"/>
                <a:sym typeface="Roboto"/>
              </a:rPr>
              <a:t>. Aparecerá una flecha circular en el nodo indicando que está configurado para inyección automática.</a:t>
            </a:r>
            <a:endParaRPr b="0" i="0" sz="15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p:nvPr/>
        </p:nvSpPr>
        <p:spPr>
          <a:xfrm>
            <a:off x="793790" y="604599"/>
            <a:ext cx="8977432"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Configuración del Nodo de Depuración</a:t>
            </a:r>
            <a:endParaRPr b="0" i="0" sz="3900" u="none" cap="none" strike="noStrike"/>
          </a:p>
        </p:txBody>
      </p:sp>
      <p:sp>
        <p:nvSpPr>
          <p:cNvPr id="234" name="Google Shape;234;p32"/>
          <p:cNvSpPr/>
          <p:nvPr/>
        </p:nvSpPr>
        <p:spPr>
          <a:xfrm>
            <a:off x="793790" y="1621512"/>
            <a:ext cx="13042821" cy="32516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Por defecto, el nodo debug solo muestra </a:t>
            </a:r>
            <a:r>
              <a:rPr b="0" i="0" lang="en-US" sz="1550" u="none" cap="none" strike="noStrike">
                <a:solidFill>
                  <a:srgbClr val="D6E5EF"/>
                </a:solidFill>
                <a:highlight>
                  <a:srgbClr val="2D3440"/>
                </a:highlight>
                <a:latin typeface="Consolas"/>
                <a:ea typeface="Consolas"/>
                <a:cs typeface="Consolas"/>
                <a:sym typeface="Consolas"/>
              </a:rPr>
              <a:t>msg.payload</a:t>
            </a:r>
            <a:r>
              <a:rPr b="0" i="0" lang="en-US" sz="1550" u="none" cap="none" strike="noStrike">
                <a:solidFill>
                  <a:srgbClr val="D6E5EF"/>
                </a:solidFill>
                <a:latin typeface="Roboto"/>
                <a:ea typeface="Roboto"/>
                <a:cs typeface="Roboto"/>
                <a:sym typeface="Roboto"/>
              </a:rPr>
              <a:t>. Para ver el </a:t>
            </a:r>
            <a:r>
              <a:rPr b="1" i="0" lang="en-US" sz="1550" u="none" cap="none" strike="noStrike">
                <a:solidFill>
                  <a:srgbClr val="D6E5EF"/>
                </a:solidFill>
                <a:latin typeface="Roboto"/>
                <a:ea typeface="Roboto"/>
                <a:cs typeface="Roboto"/>
                <a:sym typeface="Roboto"/>
              </a:rPr>
              <a:t>objeto de mensaje completo</a:t>
            </a:r>
            <a:r>
              <a:rPr b="0" i="0" lang="en-US" sz="1550" u="none" cap="none" strike="noStrike">
                <a:solidFill>
                  <a:srgbClr val="D6E5EF"/>
                </a:solidFill>
                <a:latin typeface="Roboto"/>
                <a:ea typeface="Roboto"/>
                <a:cs typeface="Roboto"/>
                <a:sym typeface="Roboto"/>
              </a:rPr>
              <a:t>, sigue estos pasos:</a:t>
            </a:r>
            <a:endParaRPr b="0" i="0" sz="1550" u="none" cap="none" strike="noStrike"/>
          </a:p>
        </p:txBody>
      </p:sp>
      <p:sp>
        <p:nvSpPr>
          <p:cNvPr id="235" name="Google Shape;235;p32"/>
          <p:cNvSpPr/>
          <p:nvPr/>
        </p:nvSpPr>
        <p:spPr>
          <a:xfrm>
            <a:off x="793790" y="2393156"/>
            <a:ext cx="446484" cy="446484"/>
          </a:xfrm>
          <a:prstGeom prst="roundRect">
            <a:avLst>
              <a:gd fmla="val 6668"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2"/>
          <p:cNvSpPr/>
          <p:nvPr/>
        </p:nvSpPr>
        <p:spPr>
          <a:xfrm>
            <a:off x="868204" y="2430363"/>
            <a:ext cx="297656" cy="3720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6E5EF"/>
              </a:buClr>
              <a:buSzPts val="2300"/>
              <a:buFont typeface="Roboto Slab"/>
              <a:buNone/>
            </a:pPr>
            <a:r>
              <a:rPr b="0" i="0" lang="en-US" sz="2300" u="none" cap="none" strike="noStrike">
                <a:solidFill>
                  <a:srgbClr val="D6E5EF"/>
                </a:solidFill>
                <a:latin typeface="Roboto Slab"/>
                <a:ea typeface="Roboto Slab"/>
                <a:cs typeface="Roboto Slab"/>
                <a:sym typeface="Roboto Slab"/>
              </a:rPr>
              <a:t>1</a:t>
            </a:r>
            <a:endParaRPr b="0" i="0" sz="2300" u="none" cap="none" strike="noStrike"/>
          </a:p>
        </p:txBody>
      </p:sp>
      <p:sp>
        <p:nvSpPr>
          <p:cNvPr id="237" name="Google Shape;237;p32"/>
          <p:cNvSpPr/>
          <p:nvPr/>
        </p:nvSpPr>
        <p:spPr>
          <a:xfrm>
            <a:off x="1438632" y="2461379"/>
            <a:ext cx="3019901"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Doble clic en msg.payload</a:t>
            </a:r>
            <a:endParaRPr b="0" i="0" sz="1950" u="none" cap="none" strike="noStrike"/>
          </a:p>
        </p:txBody>
      </p:sp>
      <p:sp>
        <p:nvSpPr>
          <p:cNvPr id="238" name="Google Shape;238;p32"/>
          <p:cNvSpPr/>
          <p:nvPr/>
        </p:nvSpPr>
        <p:spPr>
          <a:xfrm>
            <a:off x="1438632" y="2969895"/>
            <a:ext cx="5634514"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Abre el diálogo de edición del nodo debug.</a:t>
            </a:r>
            <a:endParaRPr b="0" i="0" sz="1550" u="none" cap="none" strike="noStrike"/>
          </a:p>
        </p:txBody>
      </p:sp>
      <p:sp>
        <p:nvSpPr>
          <p:cNvPr id="239" name="Google Shape;239;p32"/>
          <p:cNvSpPr/>
          <p:nvPr/>
        </p:nvSpPr>
        <p:spPr>
          <a:xfrm>
            <a:off x="793790" y="3684270"/>
            <a:ext cx="446484" cy="446484"/>
          </a:xfrm>
          <a:prstGeom prst="roundRect">
            <a:avLst>
              <a:gd fmla="val 6668"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2"/>
          <p:cNvSpPr/>
          <p:nvPr/>
        </p:nvSpPr>
        <p:spPr>
          <a:xfrm>
            <a:off x="868204" y="3721477"/>
            <a:ext cx="297656" cy="3720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6E5EF"/>
              </a:buClr>
              <a:buSzPts val="2300"/>
              <a:buFont typeface="Roboto Slab"/>
              <a:buNone/>
            </a:pPr>
            <a:r>
              <a:rPr b="0" i="0" lang="en-US" sz="2300" u="none" cap="none" strike="noStrike">
                <a:solidFill>
                  <a:srgbClr val="D6E5EF"/>
                </a:solidFill>
                <a:latin typeface="Roboto Slab"/>
                <a:ea typeface="Roboto Slab"/>
                <a:cs typeface="Roboto Slab"/>
                <a:sym typeface="Roboto Slab"/>
              </a:rPr>
              <a:t>2</a:t>
            </a:r>
            <a:endParaRPr b="0" i="0" sz="2300" u="none" cap="none" strike="noStrike"/>
          </a:p>
        </p:txBody>
      </p:sp>
      <p:sp>
        <p:nvSpPr>
          <p:cNvPr id="241" name="Google Shape;241;p32"/>
          <p:cNvSpPr/>
          <p:nvPr/>
        </p:nvSpPr>
        <p:spPr>
          <a:xfrm>
            <a:off x="1438632" y="3752493"/>
            <a:ext cx="4040267"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Seleccionar «complete msg object»</a:t>
            </a:r>
            <a:endParaRPr b="0" i="0" sz="1950" u="none" cap="none" strike="noStrike"/>
          </a:p>
        </p:txBody>
      </p:sp>
      <p:sp>
        <p:nvSpPr>
          <p:cNvPr id="242" name="Google Shape;242;p32"/>
          <p:cNvSpPr/>
          <p:nvPr/>
        </p:nvSpPr>
        <p:spPr>
          <a:xfrm>
            <a:off x="1438632" y="4261009"/>
            <a:ext cx="5634514"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En el menú desplegable Output, elige el objeto completo.</a:t>
            </a:r>
            <a:endParaRPr b="0" i="0" sz="1550" u="none" cap="none" strike="noStrike"/>
          </a:p>
        </p:txBody>
      </p:sp>
      <p:sp>
        <p:nvSpPr>
          <p:cNvPr id="243" name="Google Shape;243;p32"/>
          <p:cNvSpPr/>
          <p:nvPr/>
        </p:nvSpPr>
        <p:spPr>
          <a:xfrm>
            <a:off x="793790" y="4975384"/>
            <a:ext cx="446484" cy="446484"/>
          </a:xfrm>
          <a:prstGeom prst="roundRect">
            <a:avLst>
              <a:gd fmla="val 6668"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2"/>
          <p:cNvSpPr/>
          <p:nvPr/>
        </p:nvSpPr>
        <p:spPr>
          <a:xfrm>
            <a:off x="868204" y="5012591"/>
            <a:ext cx="297656" cy="37207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D6E5EF"/>
              </a:buClr>
              <a:buSzPts val="2300"/>
              <a:buFont typeface="Roboto Slab"/>
              <a:buNone/>
            </a:pPr>
            <a:r>
              <a:rPr b="0" i="0" lang="en-US" sz="2300" u="none" cap="none" strike="noStrike">
                <a:solidFill>
                  <a:srgbClr val="D6E5EF"/>
                </a:solidFill>
                <a:latin typeface="Roboto Slab"/>
                <a:ea typeface="Roboto Slab"/>
                <a:cs typeface="Roboto Slab"/>
                <a:sym typeface="Roboto Slab"/>
              </a:rPr>
              <a:t>3</a:t>
            </a:r>
            <a:endParaRPr b="0" i="0" sz="2300" u="none" cap="none" strike="noStrike"/>
          </a:p>
        </p:txBody>
      </p:sp>
      <p:sp>
        <p:nvSpPr>
          <p:cNvPr id="245" name="Google Shape;245;p32"/>
          <p:cNvSpPr/>
          <p:nvPr/>
        </p:nvSpPr>
        <p:spPr>
          <a:xfrm>
            <a:off x="1438632" y="5043607"/>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Deploy y verificar</a:t>
            </a:r>
            <a:endParaRPr b="0" i="0" sz="1950" u="none" cap="none" strike="noStrike"/>
          </a:p>
        </p:txBody>
      </p:sp>
      <p:sp>
        <p:nvSpPr>
          <p:cNvPr id="246" name="Google Shape;246;p32"/>
          <p:cNvSpPr/>
          <p:nvPr/>
        </p:nvSpPr>
        <p:spPr>
          <a:xfrm>
            <a:off x="1438632" y="5552123"/>
            <a:ext cx="5634514" cy="32516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Ahora verás </a:t>
            </a:r>
            <a:r>
              <a:rPr b="0" i="0" lang="en-US" sz="1550" u="none" cap="none" strike="noStrike">
                <a:solidFill>
                  <a:srgbClr val="D6E5EF"/>
                </a:solidFill>
                <a:highlight>
                  <a:srgbClr val="2D3440"/>
                </a:highlight>
                <a:latin typeface="Consolas"/>
                <a:ea typeface="Consolas"/>
                <a:cs typeface="Consolas"/>
                <a:sym typeface="Consolas"/>
              </a:rPr>
              <a:t>_msgid</a:t>
            </a:r>
            <a:r>
              <a:rPr b="0" i="0" lang="en-US" sz="1550" u="none" cap="none" strike="noStrike">
                <a:solidFill>
                  <a:srgbClr val="D6E5EF"/>
                </a:solidFill>
                <a:latin typeface="Roboto"/>
                <a:ea typeface="Roboto"/>
                <a:cs typeface="Roboto"/>
                <a:sym typeface="Roboto"/>
              </a:rPr>
              <a:t>, </a:t>
            </a:r>
            <a:r>
              <a:rPr b="0" i="0" lang="en-US" sz="1550" u="none" cap="none" strike="noStrike">
                <a:solidFill>
                  <a:srgbClr val="D6E5EF"/>
                </a:solidFill>
                <a:highlight>
                  <a:srgbClr val="2D3440"/>
                </a:highlight>
                <a:latin typeface="Consolas"/>
                <a:ea typeface="Consolas"/>
                <a:cs typeface="Consolas"/>
                <a:sym typeface="Consolas"/>
              </a:rPr>
              <a:t>topic</a:t>
            </a:r>
            <a:r>
              <a:rPr b="0" i="0" lang="en-US" sz="1550" u="none" cap="none" strike="noStrike">
                <a:solidFill>
                  <a:srgbClr val="D6E5EF"/>
                </a:solidFill>
                <a:latin typeface="Roboto"/>
                <a:ea typeface="Roboto"/>
                <a:cs typeface="Roboto"/>
                <a:sym typeface="Roboto"/>
              </a:rPr>
              <a:t> y </a:t>
            </a:r>
            <a:r>
              <a:rPr b="0" i="0" lang="en-US" sz="1550" u="none" cap="none" strike="noStrike">
                <a:solidFill>
                  <a:srgbClr val="D6E5EF"/>
                </a:solidFill>
                <a:highlight>
                  <a:srgbClr val="2D3440"/>
                </a:highlight>
                <a:latin typeface="Consolas"/>
                <a:ea typeface="Consolas"/>
                <a:cs typeface="Consolas"/>
                <a:sym typeface="Consolas"/>
              </a:rPr>
              <a:t>payload</a:t>
            </a:r>
            <a:r>
              <a:rPr b="0" i="0" lang="en-US" sz="1550" u="none" cap="none" strike="noStrike">
                <a:solidFill>
                  <a:srgbClr val="D6E5EF"/>
                </a:solidFill>
                <a:latin typeface="Roboto"/>
                <a:ea typeface="Roboto"/>
                <a:cs typeface="Roboto"/>
                <a:sym typeface="Roboto"/>
              </a:rPr>
              <a:t> en el panel.</a:t>
            </a:r>
            <a:endParaRPr b="0" i="0" sz="1550" u="none" cap="none" strike="noStrike"/>
          </a:p>
        </p:txBody>
      </p:sp>
      <p:pic>
        <p:nvPicPr>
          <p:cNvPr descr="preencoded.png" id="247" name="Google Shape;247;p32"/>
          <p:cNvPicPr preferRelativeResize="0"/>
          <p:nvPr/>
        </p:nvPicPr>
        <p:blipFill rotWithShape="1">
          <a:blip r:embed="rId3">
            <a:alphaModFix/>
          </a:blip>
          <a:srcRect b="0" l="0" r="0" t="0"/>
          <a:stretch/>
        </p:blipFill>
        <p:spPr>
          <a:xfrm>
            <a:off x="7564874" y="2393156"/>
            <a:ext cx="5448300" cy="3299460"/>
          </a:xfrm>
          <a:prstGeom prst="rect">
            <a:avLst/>
          </a:prstGeom>
          <a:noFill/>
          <a:ln>
            <a:noFill/>
          </a:ln>
        </p:spPr>
      </p:pic>
      <p:sp>
        <p:nvSpPr>
          <p:cNvPr id="248" name="Google Shape;248;p32"/>
          <p:cNvSpPr/>
          <p:nvPr/>
        </p:nvSpPr>
        <p:spPr>
          <a:xfrm>
            <a:off x="7564874" y="5915858"/>
            <a:ext cx="6279356" cy="1485900"/>
          </a:xfrm>
          <a:prstGeom prst="roundRect">
            <a:avLst>
              <a:gd fmla="val 2004" name="adj"/>
            </a:avLst>
          </a:prstGeom>
          <a:solidFill>
            <a:srgbClr val="082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9" name="Google Shape;249;p32"/>
          <p:cNvPicPr preferRelativeResize="0"/>
          <p:nvPr/>
        </p:nvPicPr>
        <p:blipFill rotWithShape="1">
          <a:blip r:embed="rId4">
            <a:alphaModFix/>
          </a:blip>
          <a:srcRect b="0" l="0" r="0" t="0"/>
          <a:stretch/>
        </p:blipFill>
        <p:spPr>
          <a:xfrm>
            <a:off x="7763232" y="6211133"/>
            <a:ext cx="248007" cy="198358"/>
          </a:xfrm>
          <a:prstGeom prst="rect">
            <a:avLst/>
          </a:prstGeom>
          <a:noFill/>
          <a:ln>
            <a:noFill/>
          </a:ln>
        </p:spPr>
      </p:pic>
      <p:sp>
        <p:nvSpPr>
          <p:cNvPr id="250" name="Google Shape;250;p32"/>
          <p:cNvSpPr/>
          <p:nvPr/>
        </p:nvSpPr>
        <p:spPr>
          <a:xfrm>
            <a:off x="8209598" y="6163747"/>
            <a:ext cx="5436275" cy="96023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FFFFFF"/>
              </a:buClr>
              <a:buSzPts val="1550"/>
              <a:buFont typeface="Roboto"/>
              <a:buNone/>
            </a:pPr>
            <a:r>
              <a:rPr b="1" i="0" lang="en-US" sz="1550" u="none" cap="none" strike="noStrike">
                <a:solidFill>
                  <a:srgbClr val="FFFFFF"/>
                </a:solidFill>
                <a:latin typeface="Roboto"/>
                <a:ea typeface="Roboto"/>
                <a:cs typeface="Roboto"/>
                <a:sym typeface="Roboto"/>
              </a:rPr>
              <a:t>Consejo:</a:t>
            </a:r>
            <a:r>
              <a:rPr b="0" i="0" lang="en-US" sz="1550" u="none" cap="none" strike="noStrike">
                <a:solidFill>
                  <a:srgbClr val="FFFFFF"/>
                </a:solidFill>
                <a:latin typeface="Roboto"/>
                <a:ea typeface="Roboto"/>
                <a:cs typeface="Roboto"/>
                <a:sym typeface="Roboto"/>
              </a:rPr>
              <a:t> Muestra el mensaje completo durante el desarrollo. Propiedades como </a:t>
            </a:r>
            <a:r>
              <a:rPr b="0" i="0" lang="en-US" sz="1550" u="none" cap="none" strike="noStrike">
                <a:solidFill>
                  <a:srgbClr val="FFFFFF"/>
                </a:solidFill>
                <a:highlight>
                  <a:srgbClr val="2D3440"/>
                </a:highlight>
                <a:latin typeface="Consolas"/>
                <a:ea typeface="Consolas"/>
                <a:cs typeface="Consolas"/>
                <a:sym typeface="Consolas"/>
              </a:rPr>
              <a:t>msg.topic</a:t>
            </a:r>
            <a:r>
              <a:rPr b="0" i="0" lang="en-US" sz="1550" u="none" cap="none" strike="noStrike">
                <a:solidFill>
                  <a:srgbClr val="FFFFFF"/>
                </a:solidFill>
                <a:latin typeface="Roboto"/>
                <a:ea typeface="Roboto"/>
                <a:cs typeface="Roboto"/>
                <a:sym typeface="Roboto"/>
              </a:rPr>
              <a:t> o </a:t>
            </a:r>
            <a:r>
              <a:rPr b="0" i="0" lang="en-US" sz="1550" u="none" cap="none" strike="noStrike">
                <a:solidFill>
                  <a:srgbClr val="FFFFFF"/>
                </a:solidFill>
                <a:highlight>
                  <a:srgbClr val="2D3440"/>
                </a:highlight>
                <a:latin typeface="Consolas"/>
                <a:ea typeface="Consolas"/>
                <a:cs typeface="Consolas"/>
                <a:sym typeface="Consolas"/>
              </a:rPr>
              <a:t>msg.error</a:t>
            </a:r>
            <a:r>
              <a:rPr b="0" i="0" lang="en-US" sz="1550" u="none" cap="none" strike="noStrike">
                <a:solidFill>
                  <a:srgbClr val="FFFFFF"/>
                </a:solidFill>
                <a:latin typeface="Roboto"/>
                <a:ea typeface="Roboto"/>
                <a:cs typeface="Roboto"/>
                <a:sym typeface="Roboto"/>
              </a:rPr>
              <a:t> pueden ser críticas para tu proyecto.</a:t>
            </a:r>
            <a:endParaRPr b="0" i="0" sz="15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p:nvPr/>
        </p:nvSpPr>
        <p:spPr>
          <a:xfrm>
            <a:off x="793790" y="860584"/>
            <a:ext cx="11057215"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Características del Panel de Depuración y JSON</a:t>
            </a:r>
            <a:endParaRPr b="0" i="0" sz="3900" u="none" cap="none" strike="noStrike"/>
          </a:p>
        </p:txBody>
      </p:sp>
      <p:sp>
        <p:nvSpPr>
          <p:cNvPr id="257" name="Google Shape;257;p33"/>
          <p:cNvSpPr/>
          <p:nvPr/>
        </p:nvSpPr>
        <p:spPr>
          <a:xfrm>
            <a:off x="793790" y="1877497"/>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El panel de depuración detecta </a:t>
            </a:r>
            <a:r>
              <a:rPr b="1" i="0" lang="en-US" sz="1550" u="none" cap="none" strike="noStrike">
                <a:solidFill>
                  <a:srgbClr val="D6E5EF"/>
                </a:solidFill>
                <a:latin typeface="Roboto"/>
                <a:ea typeface="Roboto"/>
                <a:cs typeface="Roboto"/>
                <a:sym typeface="Roboto"/>
              </a:rPr>
              <a:t>tipos de datos</a:t>
            </a:r>
            <a:r>
              <a:rPr b="0" i="0" lang="en-US" sz="1550" u="none" cap="none" strike="noStrike">
                <a:solidFill>
                  <a:srgbClr val="D6E5EF"/>
                </a:solidFill>
                <a:latin typeface="Roboto"/>
                <a:ea typeface="Roboto"/>
                <a:cs typeface="Roboto"/>
                <a:sym typeface="Roboto"/>
              </a:rPr>
              <a:t> automáticamente: las cadenas aparecen en rojo con comillas, los números en azul sin marcas. Al hacer clic en el valor de la carga útil puedes alternar entre formato numérico, fecha ISO y hexadecimal.</a:t>
            </a:r>
            <a:endParaRPr b="0" i="0" sz="1550" u="none" cap="none" strike="noStrike"/>
          </a:p>
        </p:txBody>
      </p:sp>
      <p:sp>
        <p:nvSpPr>
          <p:cNvPr id="258" name="Google Shape;258;p33"/>
          <p:cNvSpPr/>
          <p:nvPr/>
        </p:nvSpPr>
        <p:spPr>
          <a:xfrm>
            <a:off x="793790" y="2934176"/>
            <a:ext cx="3130629"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Funciones del panel Debug</a:t>
            </a:r>
            <a:endParaRPr b="0" i="0" sz="1950" u="none" cap="none" strike="noStrike"/>
          </a:p>
        </p:txBody>
      </p:sp>
      <p:pic>
        <p:nvPicPr>
          <p:cNvPr descr="preencoded.png" id="259" name="Google Shape;259;p33"/>
          <p:cNvPicPr preferRelativeResize="0"/>
          <p:nvPr/>
        </p:nvPicPr>
        <p:blipFill rotWithShape="1">
          <a:blip r:embed="rId3">
            <a:alphaModFix/>
          </a:blip>
          <a:srcRect b="0" l="0" r="0" t="0"/>
          <a:stretch/>
        </p:blipFill>
        <p:spPr>
          <a:xfrm>
            <a:off x="868204" y="3473648"/>
            <a:ext cx="297656" cy="297656"/>
          </a:xfrm>
          <a:prstGeom prst="rect">
            <a:avLst/>
          </a:prstGeom>
          <a:noFill/>
          <a:ln>
            <a:noFill/>
          </a:ln>
        </p:spPr>
      </p:pic>
      <p:sp>
        <p:nvSpPr>
          <p:cNvPr id="260" name="Google Shape;260;p33"/>
          <p:cNvSpPr/>
          <p:nvPr/>
        </p:nvSpPr>
        <p:spPr>
          <a:xfrm>
            <a:off x="1438632" y="3467576"/>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Fijar propiedades</a:t>
            </a:r>
            <a:endParaRPr b="0" i="0" sz="1950" u="none" cap="none" strike="noStrike"/>
          </a:p>
        </p:txBody>
      </p:sp>
      <p:sp>
        <p:nvSpPr>
          <p:cNvPr id="261" name="Google Shape;261;p33"/>
          <p:cNvSpPr/>
          <p:nvPr/>
        </p:nvSpPr>
        <p:spPr>
          <a:xfrm>
            <a:off x="1438632" y="3976092"/>
            <a:ext cx="5634514"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Ancla una propiedad al panel para no tener que expandir el objeto cada vez.</a:t>
            </a:r>
            <a:endParaRPr b="0" i="0" sz="1550" u="none" cap="none" strike="noStrike"/>
          </a:p>
        </p:txBody>
      </p:sp>
      <p:pic>
        <p:nvPicPr>
          <p:cNvPr descr="preencoded.png" id="262" name="Google Shape;262;p33"/>
          <p:cNvPicPr preferRelativeResize="0"/>
          <p:nvPr/>
        </p:nvPicPr>
        <p:blipFill rotWithShape="1">
          <a:blip r:embed="rId3">
            <a:alphaModFix/>
          </a:blip>
          <a:srcRect b="0" l="0" r="0" t="0"/>
          <a:stretch/>
        </p:blipFill>
        <p:spPr>
          <a:xfrm>
            <a:off x="868204" y="5014079"/>
            <a:ext cx="297656" cy="297656"/>
          </a:xfrm>
          <a:prstGeom prst="rect">
            <a:avLst/>
          </a:prstGeom>
          <a:noFill/>
          <a:ln>
            <a:noFill/>
          </a:ln>
        </p:spPr>
      </p:pic>
      <p:sp>
        <p:nvSpPr>
          <p:cNvPr id="263" name="Google Shape;263;p33"/>
          <p:cNvSpPr/>
          <p:nvPr/>
        </p:nvSpPr>
        <p:spPr>
          <a:xfrm>
            <a:off x="1438632" y="5008007"/>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Copiar valor</a:t>
            </a:r>
            <a:endParaRPr b="0" i="0" sz="1950" u="none" cap="none" strike="noStrike"/>
          </a:p>
        </p:txBody>
      </p:sp>
      <p:sp>
        <p:nvSpPr>
          <p:cNvPr id="264" name="Google Shape;264;p33"/>
          <p:cNvSpPr/>
          <p:nvPr/>
        </p:nvSpPr>
        <p:spPr>
          <a:xfrm>
            <a:off x="1438632" y="5516523"/>
            <a:ext cx="5634514"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Copia el valor directamente al portapapeles con un clic.</a:t>
            </a:r>
            <a:endParaRPr b="0" i="0" sz="1550" u="none" cap="none" strike="noStrike"/>
          </a:p>
        </p:txBody>
      </p:sp>
      <p:pic>
        <p:nvPicPr>
          <p:cNvPr descr="preencoded.png" id="265" name="Google Shape;265;p33"/>
          <p:cNvPicPr preferRelativeResize="0"/>
          <p:nvPr/>
        </p:nvPicPr>
        <p:blipFill rotWithShape="1">
          <a:blip r:embed="rId3">
            <a:alphaModFix/>
          </a:blip>
          <a:srcRect b="0" l="0" r="0" t="0"/>
          <a:stretch/>
        </p:blipFill>
        <p:spPr>
          <a:xfrm>
            <a:off x="868204" y="6236970"/>
            <a:ext cx="297656" cy="297656"/>
          </a:xfrm>
          <a:prstGeom prst="rect">
            <a:avLst/>
          </a:prstGeom>
          <a:noFill/>
          <a:ln>
            <a:noFill/>
          </a:ln>
        </p:spPr>
      </p:pic>
      <p:sp>
        <p:nvSpPr>
          <p:cNvPr id="266" name="Google Shape;266;p33"/>
          <p:cNvSpPr/>
          <p:nvPr/>
        </p:nvSpPr>
        <p:spPr>
          <a:xfrm>
            <a:off x="1438632" y="6230898"/>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Copiar ruta JSON</a:t>
            </a:r>
            <a:endParaRPr b="0" i="0" sz="1950" u="none" cap="none" strike="noStrike"/>
          </a:p>
        </p:txBody>
      </p:sp>
      <p:sp>
        <p:nvSpPr>
          <p:cNvPr id="267" name="Google Shape;267;p33"/>
          <p:cNvSpPr/>
          <p:nvPr/>
        </p:nvSpPr>
        <p:spPr>
          <a:xfrm>
            <a:off x="1438632" y="6739414"/>
            <a:ext cx="5634514" cy="31754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Copia la ruta completa al valor dentro del objeto JSON.</a:t>
            </a:r>
            <a:endParaRPr b="0" i="0" sz="1550" u="none" cap="none" strike="noStrike"/>
          </a:p>
        </p:txBody>
      </p:sp>
      <p:sp>
        <p:nvSpPr>
          <p:cNvPr id="268" name="Google Shape;268;p33"/>
          <p:cNvSpPr/>
          <p:nvPr/>
        </p:nvSpPr>
        <p:spPr>
          <a:xfrm>
            <a:off x="7564874" y="2934176"/>
            <a:ext cx="3878818"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Ejemplo de objeto JSON completo</a:t>
            </a:r>
            <a:endParaRPr b="0" i="0" sz="1950" u="none" cap="none" strike="noStrike"/>
          </a:p>
        </p:txBody>
      </p:sp>
      <p:sp>
        <p:nvSpPr>
          <p:cNvPr id="269" name="Google Shape;269;p33"/>
          <p:cNvSpPr/>
          <p:nvPr/>
        </p:nvSpPr>
        <p:spPr>
          <a:xfrm>
            <a:off x="7564874" y="3467576"/>
            <a:ext cx="6279356" cy="1250275"/>
          </a:xfrm>
          <a:prstGeom prst="roundRect">
            <a:avLst>
              <a:gd fmla="val 2381" name="adj"/>
            </a:avLst>
          </a:prstGeom>
          <a:solidFill>
            <a:srgbClr val="2D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3"/>
          <p:cNvSpPr/>
          <p:nvPr/>
        </p:nvSpPr>
        <p:spPr>
          <a:xfrm>
            <a:off x="7554992" y="3467576"/>
            <a:ext cx="6299121" cy="1250275"/>
          </a:xfrm>
          <a:prstGeom prst="roundRect">
            <a:avLst>
              <a:gd fmla="val 2381" name="adj"/>
            </a:avLst>
          </a:prstGeom>
          <a:solidFill>
            <a:srgbClr val="2D3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3"/>
          <p:cNvSpPr/>
          <p:nvPr/>
        </p:nvSpPr>
        <p:spPr>
          <a:xfrm>
            <a:off x="7753350" y="3616404"/>
            <a:ext cx="5902404"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Consolas"/>
              <a:buNone/>
            </a:pPr>
            <a:r>
              <a:rPr b="0" i="0" lang="en-US" sz="1550" u="none" cap="none" strike="noStrike">
                <a:solidFill>
                  <a:srgbClr val="D6E5EF"/>
                </a:solidFill>
                <a:highlight>
                  <a:srgbClr val="2D3440"/>
                </a:highlight>
                <a:latin typeface="Consolas"/>
                <a:ea typeface="Consolas"/>
                <a:cs typeface="Consolas"/>
                <a:sym typeface="Consolas"/>
              </a:rPr>
              <a:t>{"topic":"",</a:t>
            </a:r>
            <a:endParaRPr b="0" i="0" sz="1550" u="none" cap="none" strike="noStrike"/>
          </a:p>
          <a:p>
            <a:pPr indent="0" lvl="0" marL="0" marR="0" rtl="0" algn="l">
              <a:lnSpc>
                <a:spcPct val="161290"/>
              </a:lnSpc>
              <a:spcBef>
                <a:spcPts val="0"/>
              </a:spcBef>
              <a:spcAft>
                <a:spcPts val="0"/>
              </a:spcAft>
              <a:buClr>
                <a:srgbClr val="D6E5EF"/>
              </a:buClr>
              <a:buSzPts val="1550"/>
              <a:buFont typeface="Consolas"/>
              <a:buNone/>
            </a:pPr>
            <a:r>
              <a:rPr b="0" i="0" lang="en-US" sz="1550" u="none" cap="none" strike="noStrike">
                <a:solidFill>
                  <a:srgbClr val="D6E5EF"/>
                </a:solidFill>
                <a:highlight>
                  <a:srgbClr val="2D3440"/>
                </a:highlight>
                <a:latin typeface="Consolas"/>
                <a:ea typeface="Consolas"/>
                <a:cs typeface="Consolas"/>
                <a:sym typeface="Consolas"/>
              </a:rPr>
              <a:t>"payload":1553883972799,</a:t>
            </a:r>
            <a:endParaRPr b="0" i="0" sz="1550" u="none" cap="none" strike="noStrike"/>
          </a:p>
          <a:p>
            <a:pPr indent="0" lvl="0" marL="0" marR="0" rtl="0" algn="l">
              <a:lnSpc>
                <a:spcPct val="161290"/>
              </a:lnSpc>
              <a:spcBef>
                <a:spcPts val="0"/>
              </a:spcBef>
              <a:spcAft>
                <a:spcPts val="0"/>
              </a:spcAft>
              <a:buClr>
                <a:srgbClr val="D6E5EF"/>
              </a:buClr>
              <a:buSzPts val="1550"/>
              <a:buFont typeface="Consolas"/>
              <a:buNone/>
            </a:pPr>
            <a:r>
              <a:rPr b="0" i="0" lang="en-US" sz="1550" u="none" cap="none" strike="noStrike">
                <a:solidFill>
                  <a:srgbClr val="D6E5EF"/>
                </a:solidFill>
                <a:highlight>
                  <a:srgbClr val="2D3440"/>
                </a:highlight>
                <a:latin typeface="Consolas"/>
                <a:ea typeface="Consolas"/>
                <a:cs typeface="Consolas"/>
                <a:sym typeface="Consolas"/>
              </a:rPr>
              <a:t>"_msgid":"f1bedf70.4580c"}</a:t>
            </a:r>
            <a:endParaRPr b="0" i="0" sz="1550" u="none" cap="none" strike="noStrike"/>
          </a:p>
        </p:txBody>
      </p:sp>
      <p:sp>
        <p:nvSpPr>
          <p:cNvPr id="272" name="Google Shape;272;p33"/>
          <p:cNvSpPr/>
          <p:nvPr/>
        </p:nvSpPr>
        <p:spPr>
          <a:xfrm>
            <a:off x="7564874" y="4941094"/>
            <a:ext cx="6279356"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Los pares clave:valor separados por comas y los dos puntos como separador hacen que JSON sea fácil de procesar para cualquier programa.</a:t>
            </a:r>
            <a:endParaRPr b="0" i="0" sz="1550" u="none" cap="none" strike="noStrike"/>
          </a:p>
        </p:txBody>
      </p:sp>
      <p:pic>
        <p:nvPicPr>
          <p:cNvPr descr="preencoded.png" id="273" name="Google Shape;273;p33"/>
          <p:cNvPicPr preferRelativeResize="0"/>
          <p:nvPr/>
        </p:nvPicPr>
        <p:blipFill rotWithShape="1">
          <a:blip r:embed="rId4">
            <a:alphaModFix/>
          </a:blip>
          <a:srcRect b="0" l="0" r="0" t="0"/>
          <a:stretch/>
        </p:blipFill>
        <p:spPr>
          <a:xfrm>
            <a:off x="7564874" y="6116955"/>
            <a:ext cx="5814060" cy="1028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preencoded.png" id="279" name="Google Shape;279;p34"/>
          <p:cNvPicPr preferRelativeResize="0"/>
          <p:nvPr/>
        </p:nvPicPr>
        <p:blipFill rotWithShape="1">
          <a:blip r:embed="rId3">
            <a:alphaModFix/>
          </a:blip>
          <a:srcRect b="0" l="0" r="0" t="0"/>
          <a:stretch/>
        </p:blipFill>
        <p:spPr>
          <a:xfrm>
            <a:off x="9353550" y="2689622"/>
            <a:ext cx="5067300" cy="2850356"/>
          </a:xfrm>
          <a:prstGeom prst="rect">
            <a:avLst/>
          </a:prstGeom>
          <a:noFill/>
          <a:ln>
            <a:noFill/>
          </a:ln>
        </p:spPr>
      </p:pic>
      <p:sp>
        <p:nvSpPr>
          <p:cNvPr id="280" name="Google Shape;280;p34"/>
          <p:cNvSpPr/>
          <p:nvPr/>
        </p:nvSpPr>
        <p:spPr>
          <a:xfrm>
            <a:off x="670798" y="972622"/>
            <a:ext cx="4193024" cy="524113"/>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76B9FF"/>
              </a:buClr>
              <a:buSzPts val="3300"/>
              <a:buFont typeface="Roboto Slab"/>
              <a:buNone/>
            </a:pPr>
            <a:r>
              <a:rPr b="0" i="0" lang="en-US" sz="3300" u="none" cap="none" strike="noStrike">
                <a:solidFill>
                  <a:srgbClr val="76B9FF"/>
                </a:solidFill>
                <a:latin typeface="Roboto Slab"/>
                <a:ea typeface="Roboto Slab"/>
                <a:cs typeface="Roboto Slab"/>
                <a:sym typeface="Roboto Slab"/>
              </a:rPr>
              <a:t>¿Qué es MQTT?</a:t>
            </a:r>
            <a:endParaRPr b="0" i="0" sz="3300" u="none" cap="none" strike="noStrike"/>
          </a:p>
        </p:txBody>
      </p:sp>
      <p:sp>
        <p:nvSpPr>
          <p:cNvPr id="281" name="Google Shape;281;p34"/>
          <p:cNvSpPr/>
          <p:nvPr/>
        </p:nvSpPr>
        <p:spPr>
          <a:xfrm>
            <a:off x="670798" y="1709261"/>
            <a:ext cx="7802404" cy="990124"/>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MQTT (MQ Telemetry Transport) es un protocolo de comunicación ligero basado en TCP/IP, diseñado específicamente para entornos con recursos limitados y redes de bajo ancho de banda. A diferencia de HTTP, mantiene la conexión abierta y la reutiliza, eliminando la sobrecarga de abrir y cerrar conexiones en cada mensaje.</a:t>
            </a:r>
            <a:endParaRPr b="0" i="0" sz="1300" u="none" cap="none" strike="noStrike"/>
          </a:p>
        </p:txBody>
      </p:sp>
      <p:pic>
        <p:nvPicPr>
          <p:cNvPr descr="preencoded.png" id="282" name="Google Shape;282;p34"/>
          <p:cNvPicPr preferRelativeResize="0"/>
          <p:nvPr/>
        </p:nvPicPr>
        <p:blipFill rotWithShape="1">
          <a:blip r:embed="rId4">
            <a:alphaModFix/>
          </a:blip>
          <a:srcRect b="0" l="0" r="0" t="0"/>
          <a:stretch/>
        </p:blipFill>
        <p:spPr>
          <a:xfrm>
            <a:off x="670798" y="2858810"/>
            <a:ext cx="419219" cy="419219"/>
          </a:xfrm>
          <a:prstGeom prst="rect">
            <a:avLst/>
          </a:prstGeom>
          <a:noFill/>
          <a:ln>
            <a:noFill/>
          </a:ln>
        </p:spPr>
      </p:pic>
      <p:sp>
        <p:nvSpPr>
          <p:cNvPr id="283" name="Google Shape;283;p34"/>
          <p:cNvSpPr/>
          <p:nvPr/>
        </p:nvSpPr>
        <p:spPr>
          <a:xfrm>
            <a:off x="670798" y="3455194"/>
            <a:ext cx="2096453" cy="262057"/>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D6E5EF"/>
              </a:buClr>
              <a:buSzPts val="1650"/>
              <a:buFont typeface="Roboto Slab"/>
              <a:buNone/>
            </a:pPr>
            <a:r>
              <a:rPr b="0" i="0" lang="en-US" sz="1650" u="none" cap="none" strike="noStrike">
                <a:solidFill>
                  <a:srgbClr val="D6E5EF"/>
                </a:solidFill>
                <a:latin typeface="Roboto Slab"/>
                <a:ea typeface="Roboto Slab"/>
                <a:cs typeface="Roboto Slab"/>
                <a:sym typeface="Roboto Slab"/>
              </a:rPr>
              <a:t>Mensajería M2M</a:t>
            </a:r>
            <a:endParaRPr b="0" i="0" sz="1650" u="none" cap="none" strike="noStrike"/>
          </a:p>
        </p:txBody>
      </p:sp>
      <p:sp>
        <p:nvSpPr>
          <p:cNvPr id="284" name="Google Shape;284;p34"/>
          <p:cNvSpPr/>
          <p:nvPr/>
        </p:nvSpPr>
        <p:spPr>
          <a:xfrm>
            <a:off x="670798" y="3802261"/>
            <a:ext cx="3812619" cy="1237655"/>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Protocolo de tipo message queue orientado a comunicación máquina a máquina (M2M). Los mensajes viajan de forma asíncrona sin necesidad de que emisor y receptor estén activos al mismo tiempo.</a:t>
            </a:r>
            <a:endParaRPr b="0" i="0" sz="1300" u="none" cap="none" strike="noStrike"/>
          </a:p>
        </p:txBody>
      </p:sp>
      <p:pic>
        <p:nvPicPr>
          <p:cNvPr descr="preencoded.png" id="285" name="Google Shape;285;p34"/>
          <p:cNvPicPr preferRelativeResize="0"/>
          <p:nvPr/>
        </p:nvPicPr>
        <p:blipFill rotWithShape="1">
          <a:blip r:embed="rId5">
            <a:alphaModFix/>
          </a:blip>
          <a:srcRect b="0" l="0" r="0" t="0"/>
          <a:stretch/>
        </p:blipFill>
        <p:spPr>
          <a:xfrm>
            <a:off x="4660583" y="2858810"/>
            <a:ext cx="419219" cy="419219"/>
          </a:xfrm>
          <a:prstGeom prst="rect">
            <a:avLst/>
          </a:prstGeom>
          <a:noFill/>
          <a:ln>
            <a:noFill/>
          </a:ln>
        </p:spPr>
      </p:pic>
      <p:sp>
        <p:nvSpPr>
          <p:cNvPr id="286" name="Google Shape;286;p34"/>
          <p:cNvSpPr/>
          <p:nvPr/>
        </p:nvSpPr>
        <p:spPr>
          <a:xfrm>
            <a:off x="4660583" y="3455194"/>
            <a:ext cx="2096453" cy="262057"/>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D6E5EF"/>
              </a:buClr>
              <a:buSzPts val="1650"/>
              <a:buFont typeface="Roboto Slab"/>
              <a:buNone/>
            </a:pPr>
            <a:r>
              <a:rPr b="0" i="0" lang="en-US" sz="1650" u="none" cap="none" strike="noStrike">
                <a:solidFill>
                  <a:srgbClr val="D6E5EF"/>
                </a:solidFill>
                <a:latin typeface="Roboto Slab"/>
                <a:ea typeface="Roboto Slab"/>
                <a:cs typeface="Roboto Slab"/>
                <a:sym typeface="Roboto Slab"/>
              </a:rPr>
              <a:t>TCP/IP persistente</a:t>
            </a:r>
            <a:endParaRPr b="0" i="0" sz="1650" u="none" cap="none" strike="noStrike"/>
          </a:p>
        </p:txBody>
      </p:sp>
      <p:sp>
        <p:nvSpPr>
          <p:cNvPr id="287" name="Google Shape;287;p34"/>
          <p:cNvSpPr/>
          <p:nvPr/>
        </p:nvSpPr>
        <p:spPr>
          <a:xfrm>
            <a:off x="4660583" y="3802261"/>
            <a:ext cx="3812619" cy="990124"/>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Cada cliente abre una única conexión TCP con el broker y la mantiene activa. Esto reduce drásticamente la latencia y el consumo comparado con protocolos basados en petición-respuesta.</a:t>
            </a:r>
            <a:endParaRPr b="0" i="0" sz="1300" u="none" cap="none" strike="noStrike"/>
          </a:p>
        </p:txBody>
      </p:sp>
      <p:pic>
        <p:nvPicPr>
          <p:cNvPr descr="preencoded.png" id="288" name="Google Shape;288;p34"/>
          <p:cNvPicPr preferRelativeResize="0"/>
          <p:nvPr/>
        </p:nvPicPr>
        <p:blipFill rotWithShape="1">
          <a:blip r:embed="rId6">
            <a:alphaModFix/>
          </a:blip>
          <a:srcRect b="0" l="0" r="0" t="0"/>
          <a:stretch/>
        </p:blipFill>
        <p:spPr>
          <a:xfrm>
            <a:off x="670798" y="5323284"/>
            <a:ext cx="419219" cy="419219"/>
          </a:xfrm>
          <a:prstGeom prst="rect">
            <a:avLst/>
          </a:prstGeom>
          <a:noFill/>
          <a:ln>
            <a:noFill/>
          </a:ln>
        </p:spPr>
      </p:pic>
      <p:sp>
        <p:nvSpPr>
          <p:cNvPr id="289" name="Google Shape;289;p34"/>
          <p:cNvSpPr/>
          <p:nvPr/>
        </p:nvSpPr>
        <p:spPr>
          <a:xfrm>
            <a:off x="670801" y="5919675"/>
            <a:ext cx="3016200" cy="262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D6E5EF"/>
              </a:buClr>
              <a:buSzPts val="1650"/>
              <a:buFont typeface="Roboto Slab"/>
              <a:buNone/>
            </a:pPr>
            <a:r>
              <a:rPr b="0" i="0" lang="en-US" sz="1650" u="none" cap="none" strike="noStrike">
                <a:solidFill>
                  <a:srgbClr val="D6E5EF"/>
                </a:solidFill>
                <a:latin typeface="Roboto Slab"/>
                <a:ea typeface="Roboto Slab"/>
                <a:cs typeface="Roboto Slab"/>
                <a:sym typeface="Roboto Slab"/>
              </a:rPr>
              <a:t>Extremadamente ligero</a:t>
            </a:r>
            <a:endParaRPr b="0" i="0" sz="1650" u="none" cap="none" strike="noStrike"/>
          </a:p>
        </p:txBody>
      </p:sp>
      <p:sp>
        <p:nvSpPr>
          <p:cNvPr id="290" name="Google Shape;290;p34"/>
          <p:cNvSpPr/>
          <p:nvPr/>
        </p:nvSpPr>
        <p:spPr>
          <a:xfrm>
            <a:off x="670798" y="6266736"/>
            <a:ext cx="3812619" cy="990124"/>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Las cabeceras de los mensajes pueden ser de tan solo 2 bytes. Diseñado para funcionar en microcontroladores, sensores y dispositivos con poca memoria y CPU.</a:t>
            </a:r>
            <a:endParaRPr b="0" i="0" sz="1300" u="none" cap="none" strike="noStrike"/>
          </a:p>
        </p:txBody>
      </p:sp>
      <p:pic>
        <p:nvPicPr>
          <p:cNvPr descr="preencoded.png" id="291" name="Google Shape;291;p34"/>
          <p:cNvPicPr preferRelativeResize="0"/>
          <p:nvPr/>
        </p:nvPicPr>
        <p:blipFill rotWithShape="1">
          <a:blip r:embed="rId7">
            <a:alphaModFix/>
          </a:blip>
          <a:srcRect b="0" l="0" r="0" t="0"/>
          <a:stretch/>
        </p:blipFill>
        <p:spPr>
          <a:xfrm>
            <a:off x="4660583" y="5323284"/>
            <a:ext cx="419219" cy="419219"/>
          </a:xfrm>
          <a:prstGeom prst="rect">
            <a:avLst/>
          </a:prstGeom>
          <a:noFill/>
          <a:ln>
            <a:noFill/>
          </a:ln>
        </p:spPr>
      </p:pic>
      <p:sp>
        <p:nvSpPr>
          <p:cNvPr id="292" name="Google Shape;292;p34"/>
          <p:cNvSpPr/>
          <p:nvPr/>
        </p:nvSpPr>
        <p:spPr>
          <a:xfrm>
            <a:off x="4660571" y="5919675"/>
            <a:ext cx="4193100" cy="262200"/>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D6E5EF"/>
              </a:buClr>
              <a:buSzPts val="1650"/>
              <a:buFont typeface="Roboto Slab"/>
              <a:buNone/>
            </a:pPr>
            <a:r>
              <a:rPr b="0" i="0" lang="en-US" sz="1650" u="none" cap="none" strike="noStrike">
                <a:solidFill>
                  <a:srgbClr val="D6E5EF"/>
                </a:solidFill>
                <a:latin typeface="Roboto Slab"/>
                <a:ea typeface="Roboto Slab"/>
                <a:cs typeface="Roboto Slab"/>
                <a:sym typeface="Roboto Slab"/>
              </a:rPr>
              <a:t>Tolerante a redes inestables</a:t>
            </a:r>
            <a:endParaRPr b="0" i="0" sz="1650" u="none" cap="none" strike="noStrike"/>
          </a:p>
        </p:txBody>
      </p:sp>
      <p:sp>
        <p:nvSpPr>
          <p:cNvPr id="293" name="Google Shape;293;p34"/>
          <p:cNvSpPr/>
          <p:nvPr/>
        </p:nvSpPr>
        <p:spPr>
          <a:xfrm>
            <a:off x="4660583" y="6266736"/>
            <a:ext cx="3812619" cy="742593"/>
          </a:xfrm>
          <a:prstGeom prst="rect">
            <a:avLst/>
          </a:prstGeom>
          <a:noFill/>
          <a:ln>
            <a:noFill/>
          </a:ln>
        </p:spPr>
        <p:txBody>
          <a:bodyPr anchorCtr="0" anchor="t" bIns="0" lIns="0" spcFirstLastPara="1" rIns="0" wrap="square" tIns="0">
            <a:noAutofit/>
          </a:bodyPr>
          <a:lstStyle/>
          <a:p>
            <a:pPr indent="0" lvl="0" marL="0" marR="0" rtl="0" algn="l">
              <a:lnSpc>
                <a:spcPct val="146153"/>
              </a:lnSpc>
              <a:spcBef>
                <a:spcPts val="0"/>
              </a:spcBef>
              <a:spcAft>
                <a:spcPts val="0"/>
              </a:spcAft>
              <a:buClr>
                <a:srgbClr val="D6E5EF"/>
              </a:buClr>
              <a:buSzPts val="1300"/>
              <a:buFont typeface="Roboto"/>
              <a:buNone/>
            </a:pPr>
            <a:r>
              <a:rPr b="0" i="0" lang="en-US" sz="1300" u="none" cap="none" strike="noStrike">
                <a:solidFill>
                  <a:srgbClr val="D6E5EF"/>
                </a:solidFill>
                <a:latin typeface="Roboto"/>
                <a:ea typeface="Roboto"/>
                <a:cs typeface="Roboto"/>
                <a:sym typeface="Roboto"/>
              </a:rPr>
              <a:t>Funciona bien en conexiones lentas, intermitentes o con pérdidas de paquetes. Ideal para redes inalámbricas, móviles o satelitales.</a:t>
            </a:r>
            <a:endParaRPr b="0" i="0" sz="130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5"/>
          <p:cNvSpPr/>
          <p:nvPr/>
        </p:nvSpPr>
        <p:spPr>
          <a:xfrm>
            <a:off x="746999" y="372066"/>
            <a:ext cx="2798400" cy="310200"/>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¿Cómo funciona MQTT?</a:t>
            </a:r>
            <a:endParaRPr b="0" i="0" sz="1950" u="none" cap="none" strike="noStrike"/>
          </a:p>
        </p:txBody>
      </p:sp>
      <p:sp>
        <p:nvSpPr>
          <p:cNvPr id="300" name="Google Shape;300;p35"/>
          <p:cNvSpPr/>
          <p:nvPr/>
        </p:nvSpPr>
        <p:spPr>
          <a:xfrm>
            <a:off x="747000" y="682225"/>
            <a:ext cx="13136400" cy="720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a:buNone/>
            </a:pPr>
            <a:r>
              <a:rPr b="0" i="0" lang="en-US" sz="1550" u="none" cap="none" strike="noStrike">
                <a:solidFill>
                  <a:srgbClr val="D6E5EF"/>
                </a:solidFill>
                <a:latin typeface="Roboto"/>
                <a:ea typeface="Roboto"/>
                <a:cs typeface="Roboto"/>
                <a:sym typeface="Roboto"/>
              </a:rPr>
              <a:t>MQTT usa un patrón publicador/suscriptor (pub-sub) donde todos los dispositivos se comunican a través de un servidor central llamado broker. Los mensajes se organizan en topics jerárquicos que actúan como canales de distribución.</a:t>
            </a:r>
            <a:endParaRPr b="0" i="0" sz="1550" u="none" cap="none" strike="noStrike"/>
          </a:p>
        </p:txBody>
      </p:sp>
      <p:pic>
        <p:nvPicPr>
          <p:cNvPr descr="preencoded.png" id="301" name="Google Shape;301;p35"/>
          <p:cNvPicPr preferRelativeResize="0"/>
          <p:nvPr/>
        </p:nvPicPr>
        <p:blipFill rotWithShape="1">
          <a:blip r:embed="rId3">
            <a:alphaModFix/>
          </a:blip>
          <a:srcRect b="0" l="0" r="0" t="0"/>
          <a:stretch/>
        </p:blipFill>
        <p:spPr>
          <a:xfrm>
            <a:off x="746988" y="1403155"/>
            <a:ext cx="13136424" cy="6354575"/>
          </a:xfrm>
          <a:prstGeom prst="rect">
            <a:avLst/>
          </a:prstGeom>
          <a:noFill/>
          <a:ln>
            <a:noFill/>
          </a:ln>
        </p:spPr>
      </p:pic>
      <p:pic>
        <p:nvPicPr>
          <p:cNvPr descr="preencoded.png" id="302" name="Google Shape;302;p35"/>
          <p:cNvPicPr preferRelativeResize="0"/>
          <p:nvPr/>
        </p:nvPicPr>
        <p:blipFill rotWithShape="1">
          <a:blip r:embed="rId4">
            <a:alphaModFix/>
          </a:blip>
          <a:srcRect b="0" l="0" r="0" t="0"/>
          <a:stretch/>
        </p:blipFill>
        <p:spPr>
          <a:xfrm>
            <a:off x="11153180" y="8577858"/>
            <a:ext cx="119063" cy="1190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6"/>
          <p:cNvSpPr/>
          <p:nvPr/>
        </p:nvSpPr>
        <p:spPr>
          <a:xfrm>
            <a:off x="1189050" y="515977"/>
            <a:ext cx="4041300" cy="275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76B9FF"/>
              </a:buClr>
              <a:buSzPts val="950"/>
              <a:buFont typeface="Roboto Slab"/>
              <a:buNone/>
            </a:pPr>
            <a:r>
              <a:rPr b="0" i="0" lang="en-US" sz="1950" u="none" cap="none" strike="noStrike">
                <a:solidFill>
                  <a:srgbClr val="76B9FF"/>
                </a:solidFill>
                <a:latin typeface="Roboto Slab"/>
                <a:ea typeface="Roboto Slab"/>
                <a:cs typeface="Roboto Slab"/>
                <a:sym typeface="Roboto Slab"/>
              </a:rPr>
              <a:t>El Broker: corazón del sistema</a:t>
            </a:r>
            <a:endParaRPr b="0" i="0" sz="1950" u="none" cap="none" strike="noStrike"/>
          </a:p>
        </p:txBody>
      </p:sp>
      <p:sp>
        <p:nvSpPr>
          <p:cNvPr id="309" name="Google Shape;309;p36"/>
          <p:cNvSpPr/>
          <p:nvPr/>
        </p:nvSpPr>
        <p:spPr>
          <a:xfrm>
            <a:off x="975425" y="1075925"/>
            <a:ext cx="6150900" cy="1964400"/>
          </a:xfrm>
          <a:prstGeom prst="rect">
            <a:avLst/>
          </a:prstGeom>
          <a:noFill/>
          <a:ln>
            <a:noFill/>
          </a:ln>
        </p:spPr>
        <p:txBody>
          <a:bodyPr anchorCtr="0" anchor="t" bIns="0" lIns="0" spcFirstLastPara="1" rIns="0" wrap="square" tIns="0">
            <a:noAutofit/>
          </a:bodyPr>
          <a:lstStyle/>
          <a:p>
            <a:pPr indent="-393700" lvl="0" marL="342900" marR="0" rtl="0" algn="l">
              <a:lnSpc>
                <a:spcPct val="12000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Recibe todos los mensajes de los publicadores</a:t>
            </a:r>
            <a:endParaRPr b="0" i="0" sz="1550" u="none" cap="none" strike="noStrike"/>
          </a:p>
          <a:p>
            <a:pPr indent="-393700" lvl="0" marL="342900" marR="0" rtl="0" algn="l">
              <a:lnSpc>
                <a:spcPct val="12000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Filtra y reenvía cada mensaje a los suscriptores del topic correspondiente</a:t>
            </a:r>
            <a:endParaRPr b="0" i="0" sz="1550" u="none" cap="none" strike="noStrike"/>
          </a:p>
          <a:p>
            <a:pPr indent="-393700" lvl="0" marL="342900" marR="0" rtl="0" algn="l">
              <a:lnSpc>
                <a:spcPct val="12000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Mantiene el registro de clientes conectados y sus suscripciones</a:t>
            </a:r>
            <a:endParaRPr b="0" i="0" sz="1550" u="none" cap="none" strike="noStrike"/>
          </a:p>
          <a:p>
            <a:pPr indent="-393700" lvl="0" marL="342900" marR="0" rtl="0" algn="l">
              <a:lnSpc>
                <a:spcPct val="12000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Gestiona la conexión TCP/IP persistente con cada cliente (puerto 1883 / 8883 TLS)</a:t>
            </a:r>
            <a:endParaRPr b="0" i="0" sz="1550" u="none" cap="none" strike="noStrike"/>
          </a:p>
          <a:p>
            <a:pPr indent="-393700" lvl="0" marL="342900" marR="0" rtl="0" algn="l">
              <a:lnSpc>
                <a:spcPct val="12000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Puede manejar miles de conexiones simultáneas</a:t>
            </a:r>
            <a:endParaRPr b="0" i="0" sz="1550" u="none" cap="none" strike="noStrike"/>
          </a:p>
        </p:txBody>
      </p:sp>
      <p:sp>
        <p:nvSpPr>
          <p:cNvPr id="310" name="Google Shape;310;p36"/>
          <p:cNvSpPr/>
          <p:nvPr/>
        </p:nvSpPr>
        <p:spPr>
          <a:xfrm>
            <a:off x="7462125" y="511885"/>
            <a:ext cx="3694500" cy="275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76B9FF"/>
              </a:buClr>
              <a:buSzPts val="950"/>
              <a:buFont typeface="Roboto Slab"/>
              <a:buNone/>
            </a:pPr>
            <a:r>
              <a:rPr b="0" i="0" lang="en-US" sz="1950" u="none" cap="none" strike="noStrike">
                <a:solidFill>
                  <a:srgbClr val="76B9FF"/>
                </a:solidFill>
                <a:latin typeface="Roboto Slab"/>
                <a:ea typeface="Roboto Slab"/>
                <a:cs typeface="Roboto Slab"/>
                <a:sym typeface="Roboto Slab"/>
              </a:rPr>
              <a:t>El ciclo de mensajes</a:t>
            </a:r>
            <a:endParaRPr b="0" i="0" sz="1950" u="none" cap="none" strike="noStrike"/>
          </a:p>
        </p:txBody>
      </p:sp>
      <p:sp>
        <p:nvSpPr>
          <p:cNvPr id="311" name="Google Shape;311;p36"/>
          <p:cNvSpPr/>
          <p:nvPr/>
        </p:nvSpPr>
        <p:spPr>
          <a:xfrm>
            <a:off x="7462131" y="919548"/>
            <a:ext cx="561000" cy="233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Slab"/>
              <a:buNone/>
            </a:pPr>
            <a:r>
              <a:rPr b="0" i="0" lang="en-US" sz="1350" u="none" cap="none" strike="noStrike">
                <a:solidFill>
                  <a:srgbClr val="D6E5EF"/>
                </a:solidFill>
                <a:latin typeface="Roboto Slab"/>
                <a:ea typeface="Roboto Slab"/>
                <a:cs typeface="Roboto Slab"/>
                <a:sym typeface="Roboto Slab"/>
              </a:rPr>
              <a:t>01</a:t>
            </a:r>
            <a:endParaRPr b="0" i="0" sz="1350" u="none" cap="none" strike="noStrike"/>
          </a:p>
        </p:txBody>
      </p:sp>
      <p:sp>
        <p:nvSpPr>
          <p:cNvPr id="312" name="Google Shape;312;p36"/>
          <p:cNvSpPr/>
          <p:nvPr/>
        </p:nvSpPr>
        <p:spPr>
          <a:xfrm>
            <a:off x="7462132" y="1203793"/>
            <a:ext cx="1240500" cy="1551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D6E5EF"/>
              </a:buClr>
              <a:buSzPts val="950"/>
              <a:buFont typeface="Roboto Slab"/>
              <a:buNone/>
            </a:pPr>
            <a:r>
              <a:rPr b="0" i="0" lang="en-US" sz="1550" u="none" cap="none" strike="noStrike">
                <a:solidFill>
                  <a:srgbClr val="D6E5EF"/>
                </a:solidFill>
                <a:latin typeface="Roboto Slab"/>
                <a:ea typeface="Roboto Slab"/>
                <a:cs typeface="Roboto Slab"/>
                <a:sym typeface="Roboto Slab"/>
              </a:rPr>
              <a:t>CONNECT:</a:t>
            </a:r>
            <a:endParaRPr b="0" i="0" sz="1550" u="none" cap="none" strike="noStrike"/>
          </a:p>
        </p:txBody>
      </p:sp>
      <p:sp>
        <p:nvSpPr>
          <p:cNvPr id="313" name="Google Shape;313;p36"/>
          <p:cNvSpPr/>
          <p:nvPr/>
        </p:nvSpPr>
        <p:spPr>
          <a:xfrm>
            <a:off x="7462131" y="1462773"/>
            <a:ext cx="6150900" cy="476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a:buNone/>
            </a:pPr>
            <a:r>
              <a:rPr b="0" i="0" lang="en-US" sz="1350" u="none" cap="none" strike="noStrike">
                <a:solidFill>
                  <a:srgbClr val="D6E5EF"/>
                </a:solidFill>
                <a:latin typeface="Roboto"/>
                <a:ea typeface="Roboto"/>
                <a:cs typeface="Roboto"/>
                <a:sym typeface="Roboto"/>
              </a:rPr>
              <a:t>El cliente se conecta al broker con sus credenciales → broker responde CONNACK</a:t>
            </a:r>
            <a:endParaRPr b="0" i="0" sz="1350" u="none" cap="none" strike="noStrike"/>
          </a:p>
        </p:txBody>
      </p:sp>
      <p:sp>
        <p:nvSpPr>
          <p:cNvPr id="314" name="Google Shape;314;p36"/>
          <p:cNvSpPr/>
          <p:nvPr/>
        </p:nvSpPr>
        <p:spPr>
          <a:xfrm>
            <a:off x="996451" y="6146350"/>
            <a:ext cx="12637500" cy="1808400"/>
          </a:xfrm>
          <a:prstGeom prst="roundRect">
            <a:avLst>
              <a:gd fmla="val 1711" name="adj"/>
            </a:avLst>
          </a:prstGeom>
          <a:solidFill>
            <a:srgbClr val="202733"/>
          </a:solidFill>
          <a:ln cap="flat" cmpd="sng" w="15225">
            <a:solidFill>
              <a:srgbClr val="585F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700"/>
          </a:p>
        </p:txBody>
      </p:sp>
      <p:pic>
        <p:nvPicPr>
          <p:cNvPr descr="preencoded.png" id="315" name="Google Shape;315;p36"/>
          <p:cNvPicPr preferRelativeResize="0"/>
          <p:nvPr/>
        </p:nvPicPr>
        <p:blipFill rotWithShape="1">
          <a:blip r:embed="rId3">
            <a:alphaModFix/>
          </a:blip>
          <a:srcRect b="0" l="0" r="0" t="0"/>
          <a:stretch/>
        </p:blipFill>
        <p:spPr>
          <a:xfrm>
            <a:off x="861511" y="5998098"/>
            <a:ext cx="407475" cy="407500"/>
          </a:xfrm>
          <a:prstGeom prst="rect">
            <a:avLst/>
          </a:prstGeom>
          <a:noFill/>
          <a:ln>
            <a:noFill/>
          </a:ln>
        </p:spPr>
      </p:pic>
      <p:sp>
        <p:nvSpPr>
          <p:cNvPr id="316" name="Google Shape;316;p36"/>
          <p:cNvSpPr/>
          <p:nvPr/>
        </p:nvSpPr>
        <p:spPr>
          <a:xfrm>
            <a:off x="1798200" y="6223947"/>
            <a:ext cx="3288600" cy="2757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D6E5EF"/>
              </a:buClr>
              <a:buSzPts val="950"/>
              <a:buFont typeface="Roboto Slab"/>
              <a:buNone/>
            </a:pPr>
            <a:r>
              <a:rPr b="0" i="0" lang="en-US" sz="1950" u="none" cap="none" strike="noStrike">
                <a:solidFill>
                  <a:srgbClr val="D6E5EF"/>
                </a:solidFill>
                <a:latin typeface="Roboto Slab"/>
                <a:ea typeface="Roboto Slab"/>
                <a:cs typeface="Roboto Slab"/>
                <a:sym typeface="Roboto Slab"/>
              </a:rPr>
              <a:t>¿Te suena de algo?</a:t>
            </a:r>
            <a:endParaRPr b="0" i="0" sz="1950" u="none" cap="none" strike="noStrike"/>
          </a:p>
        </p:txBody>
      </p:sp>
      <p:sp>
        <p:nvSpPr>
          <p:cNvPr id="317" name="Google Shape;317;p36"/>
          <p:cNvSpPr/>
          <p:nvPr/>
        </p:nvSpPr>
        <p:spPr>
          <a:xfrm>
            <a:off x="1798198" y="6574855"/>
            <a:ext cx="11034000" cy="1242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a:buNone/>
            </a:pPr>
            <a:r>
              <a:rPr b="0" i="0" lang="en-US" sz="1550" u="none" cap="none" strike="noStrike">
                <a:solidFill>
                  <a:srgbClr val="D6E5EF"/>
                </a:solidFill>
                <a:latin typeface="Roboto"/>
                <a:ea typeface="Roboto"/>
                <a:cs typeface="Roboto"/>
                <a:sym typeface="Roboto"/>
              </a:rPr>
              <a:t>Si has trabajado con RabbitMQ, el funcionamiento de MQTT te resultará muy familiar. Ambos protocolos mantienen una conexión TCP persistente con el broker, y los clientes se comunican a través de ella sin necesidad de reconectarse en cada mensaje. La diferencia principal está en el enfoque: RabbitMQ usa exchanges y colas con enrutamiento complejo, mientras que MQTT simplifica todo a topics jerárquicos. Misma filosofía de conexión, distinto nivel de complejidad.</a:t>
            </a:r>
            <a:endParaRPr b="0" i="0" sz="1550" u="none" cap="none" strike="noStrike"/>
          </a:p>
        </p:txBody>
      </p:sp>
      <p:cxnSp>
        <p:nvCxnSpPr>
          <p:cNvPr id="318" name="Google Shape;318;p36"/>
          <p:cNvCxnSpPr/>
          <p:nvPr/>
        </p:nvCxnSpPr>
        <p:spPr>
          <a:xfrm>
            <a:off x="7462132" y="1178068"/>
            <a:ext cx="4510200" cy="600"/>
          </a:xfrm>
          <a:prstGeom prst="straightConnector1">
            <a:avLst/>
          </a:prstGeom>
          <a:noFill/>
          <a:ln cap="flat" cmpd="sng" w="28575">
            <a:solidFill>
              <a:schemeClr val="dk2"/>
            </a:solidFill>
            <a:prstDash val="solid"/>
            <a:round/>
            <a:headEnd len="med" w="med" type="none"/>
            <a:tailEnd len="med" w="med" type="none"/>
          </a:ln>
        </p:spPr>
      </p:cxnSp>
      <p:sp>
        <p:nvSpPr>
          <p:cNvPr id="319" name="Google Shape;319;p36"/>
          <p:cNvSpPr/>
          <p:nvPr/>
        </p:nvSpPr>
        <p:spPr>
          <a:xfrm>
            <a:off x="7462131" y="2052911"/>
            <a:ext cx="561000" cy="233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Slab"/>
              <a:buNone/>
            </a:pPr>
            <a:r>
              <a:rPr b="0" i="0" lang="en-US" sz="1350" u="none" cap="none" strike="noStrike">
                <a:solidFill>
                  <a:srgbClr val="D6E5EF"/>
                </a:solidFill>
                <a:latin typeface="Roboto Slab"/>
                <a:ea typeface="Roboto Slab"/>
                <a:cs typeface="Roboto Slab"/>
                <a:sym typeface="Roboto Slab"/>
              </a:rPr>
              <a:t>0</a:t>
            </a:r>
            <a:r>
              <a:rPr lang="en-US" sz="1350">
                <a:solidFill>
                  <a:srgbClr val="D6E5EF"/>
                </a:solidFill>
                <a:latin typeface="Roboto Slab"/>
                <a:ea typeface="Roboto Slab"/>
                <a:cs typeface="Roboto Slab"/>
                <a:sym typeface="Roboto Slab"/>
              </a:rPr>
              <a:t>2</a:t>
            </a:r>
            <a:endParaRPr b="0" i="0" sz="1350" u="none" cap="none" strike="noStrike"/>
          </a:p>
        </p:txBody>
      </p:sp>
      <p:sp>
        <p:nvSpPr>
          <p:cNvPr id="320" name="Google Shape;320;p36"/>
          <p:cNvSpPr/>
          <p:nvPr/>
        </p:nvSpPr>
        <p:spPr>
          <a:xfrm>
            <a:off x="7462125" y="2337147"/>
            <a:ext cx="1240500" cy="2334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D6E5EF"/>
              </a:buClr>
              <a:buSzPts val="950"/>
              <a:buFont typeface="Roboto Slab"/>
              <a:buNone/>
            </a:pPr>
            <a:r>
              <a:rPr lang="en-US" sz="1550">
                <a:solidFill>
                  <a:srgbClr val="D6E5EF"/>
                </a:solidFill>
                <a:latin typeface="Roboto Slab"/>
                <a:ea typeface="Roboto Slab"/>
                <a:cs typeface="Roboto Slab"/>
                <a:sym typeface="Roboto Slab"/>
              </a:rPr>
              <a:t>SUBSCRIBE</a:t>
            </a:r>
            <a:r>
              <a:rPr b="0" i="0" lang="en-US" sz="1550" u="none" cap="none" strike="noStrike">
                <a:solidFill>
                  <a:srgbClr val="D6E5EF"/>
                </a:solidFill>
                <a:latin typeface="Roboto Slab"/>
                <a:ea typeface="Roboto Slab"/>
                <a:cs typeface="Roboto Slab"/>
                <a:sym typeface="Roboto Slab"/>
              </a:rPr>
              <a:t>:</a:t>
            </a:r>
            <a:endParaRPr b="0" i="0" sz="1550" u="none" cap="none" strike="noStrike"/>
          </a:p>
        </p:txBody>
      </p:sp>
      <p:sp>
        <p:nvSpPr>
          <p:cNvPr id="321" name="Google Shape;321;p36"/>
          <p:cNvSpPr/>
          <p:nvPr/>
        </p:nvSpPr>
        <p:spPr>
          <a:xfrm>
            <a:off x="7462131" y="2596135"/>
            <a:ext cx="6150900" cy="476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rgbClr val="D6E5EF"/>
              </a:buClr>
              <a:buSzPts val="750"/>
              <a:buFont typeface="Roboto"/>
              <a:buNone/>
            </a:pPr>
            <a:r>
              <a:rPr lang="en-US" sz="1350">
                <a:solidFill>
                  <a:srgbClr val="D6E5EF"/>
                </a:solidFill>
                <a:latin typeface="Roboto"/>
                <a:ea typeface="Roboto"/>
                <a:cs typeface="Roboto"/>
                <a:sym typeface="Roboto"/>
              </a:rPr>
              <a:t>El cliente se suscribe a uno o varios topics → broker responde SUBACK</a:t>
            </a:r>
            <a:endParaRPr sz="1350">
              <a:solidFill>
                <a:schemeClr val="dk1"/>
              </a:solidFill>
            </a:endParaRPr>
          </a:p>
          <a:p>
            <a:pPr indent="0" lvl="0" marL="0" marR="0" rtl="0" algn="l">
              <a:lnSpc>
                <a:spcPct val="120000"/>
              </a:lnSpc>
              <a:spcBef>
                <a:spcPts val="0"/>
              </a:spcBef>
              <a:spcAft>
                <a:spcPts val="0"/>
              </a:spcAft>
              <a:buClr>
                <a:srgbClr val="D6E5EF"/>
              </a:buClr>
              <a:buSzPts val="750"/>
              <a:buFont typeface="Roboto"/>
              <a:buNone/>
            </a:pPr>
            <a:r>
              <a:t/>
            </a:r>
            <a:endParaRPr sz="1350">
              <a:solidFill>
                <a:srgbClr val="D6E5EF"/>
              </a:solidFill>
              <a:latin typeface="Roboto"/>
              <a:ea typeface="Roboto"/>
              <a:cs typeface="Roboto"/>
              <a:sym typeface="Roboto"/>
            </a:endParaRPr>
          </a:p>
        </p:txBody>
      </p:sp>
      <p:cxnSp>
        <p:nvCxnSpPr>
          <p:cNvPr id="322" name="Google Shape;322;p36"/>
          <p:cNvCxnSpPr/>
          <p:nvPr/>
        </p:nvCxnSpPr>
        <p:spPr>
          <a:xfrm>
            <a:off x="7462132" y="2311430"/>
            <a:ext cx="4510200" cy="600"/>
          </a:xfrm>
          <a:prstGeom prst="straightConnector1">
            <a:avLst/>
          </a:prstGeom>
          <a:noFill/>
          <a:ln cap="flat" cmpd="sng" w="28575">
            <a:solidFill>
              <a:schemeClr val="dk2"/>
            </a:solidFill>
            <a:prstDash val="solid"/>
            <a:round/>
            <a:headEnd len="med" w="med" type="none"/>
            <a:tailEnd len="med" w="med" type="none"/>
          </a:ln>
        </p:spPr>
      </p:cxnSp>
      <p:sp>
        <p:nvSpPr>
          <p:cNvPr id="323" name="Google Shape;323;p36"/>
          <p:cNvSpPr/>
          <p:nvPr/>
        </p:nvSpPr>
        <p:spPr>
          <a:xfrm>
            <a:off x="7462131" y="3116323"/>
            <a:ext cx="561000" cy="233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Slab"/>
              <a:buNone/>
            </a:pPr>
            <a:r>
              <a:rPr lang="en-US" sz="1350">
                <a:solidFill>
                  <a:srgbClr val="D6E5EF"/>
                </a:solidFill>
                <a:latin typeface="Roboto Slab"/>
                <a:ea typeface="Roboto Slab"/>
                <a:cs typeface="Roboto Slab"/>
                <a:sym typeface="Roboto Slab"/>
              </a:rPr>
              <a:t>03</a:t>
            </a:r>
            <a:endParaRPr b="0" i="0" sz="1350" u="none" cap="none" strike="noStrike"/>
          </a:p>
        </p:txBody>
      </p:sp>
      <p:sp>
        <p:nvSpPr>
          <p:cNvPr id="324" name="Google Shape;324;p36"/>
          <p:cNvSpPr/>
          <p:nvPr/>
        </p:nvSpPr>
        <p:spPr>
          <a:xfrm>
            <a:off x="7462125" y="3400560"/>
            <a:ext cx="1240500" cy="2334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D6E5EF"/>
              </a:buClr>
              <a:buSzPts val="950"/>
              <a:buFont typeface="Roboto Slab"/>
              <a:buNone/>
            </a:pPr>
            <a:r>
              <a:rPr lang="en-US" sz="1550">
                <a:solidFill>
                  <a:srgbClr val="D6E5EF"/>
                </a:solidFill>
                <a:latin typeface="Roboto Slab"/>
                <a:ea typeface="Roboto Slab"/>
                <a:cs typeface="Roboto Slab"/>
                <a:sym typeface="Roboto Slab"/>
              </a:rPr>
              <a:t>PUBLISH</a:t>
            </a:r>
            <a:r>
              <a:rPr b="0" i="0" lang="en-US" sz="1550" u="none" cap="none" strike="noStrike">
                <a:solidFill>
                  <a:srgbClr val="D6E5EF"/>
                </a:solidFill>
                <a:latin typeface="Roboto Slab"/>
                <a:ea typeface="Roboto Slab"/>
                <a:cs typeface="Roboto Slab"/>
                <a:sym typeface="Roboto Slab"/>
              </a:rPr>
              <a:t>:</a:t>
            </a:r>
            <a:endParaRPr b="0" i="0" sz="1550" u="none" cap="none" strike="noStrike"/>
          </a:p>
        </p:txBody>
      </p:sp>
      <p:sp>
        <p:nvSpPr>
          <p:cNvPr id="325" name="Google Shape;325;p36"/>
          <p:cNvSpPr/>
          <p:nvPr/>
        </p:nvSpPr>
        <p:spPr>
          <a:xfrm>
            <a:off x="7462125" y="3659551"/>
            <a:ext cx="6150900" cy="476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rgbClr val="D6E5EF"/>
              </a:buClr>
              <a:buSzPts val="750"/>
              <a:buFont typeface="Roboto"/>
              <a:buNone/>
            </a:pPr>
            <a:r>
              <a:rPr lang="en-US" sz="1350">
                <a:solidFill>
                  <a:srgbClr val="D6E5EF"/>
                </a:solidFill>
                <a:latin typeface="Roboto"/>
                <a:ea typeface="Roboto"/>
                <a:cs typeface="Roboto"/>
                <a:sym typeface="Roboto"/>
              </a:rPr>
              <a:t>Un publicador envía un mensaje con topic + payload → broker lo distribuye</a:t>
            </a:r>
            <a:endParaRPr sz="1350">
              <a:solidFill>
                <a:srgbClr val="D6E5EF"/>
              </a:solidFill>
              <a:latin typeface="Roboto"/>
              <a:ea typeface="Roboto"/>
              <a:cs typeface="Roboto"/>
              <a:sym typeface="Roboto"/>
            </a:endParaRPr>
          </a:p>
        </p:txBody>
      </p:sp>
      <p:cxnSp>
        <p:nvCxnSpPr>
          <p:cNvPr id="326" name="Google Shape;326;p36"/>
          <p:cNvCxnSpPr/>
          <p:nvPr/>
        </p:nvCxnSpPr>
        <p:spPr>
          <a:xfrm>
            <a:off x="7462132" y="3374843"/>
            <a:ext cx="4510200" cy="600"/>
          </a:xfrm>
          <a:prstGeom prst="straightConnector1">
            <a:avLst/>
          </a:prstGeom>
          <a:noFill/>
          <a:ln cap="flat" cmpd="sng" w="28575">
            <a:solidFill>
              <a:schemeClr val="dk2"/>
            </a:solidFill>
            <a:prstDash val="solid"/>
            <a:round/>
            <a:headEnd len="med" w="med" type="none"/>
            <a:tailEnd len="med" w="med" type="none"/>
          </a:ln>
        </p:spPr>
      </p:cxnSp>
      <p:sp>
        <p:nvSpPr>
          <p:cNvPr id="327" name="Google Shape;327;p36"/>
          <p:cNvSpPr/>
          <p:nvPr/>
        </p:nvSpPr>
        <p:spPr>
          <a:xfrm>
            <a:off x="7462131" y="4135236"/>
            <a:ext cx="561000" cy="233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6E5EF"/>
              </a:buClr>
              <a:buSzPts val="750"/>
              <a:buFont typeface="Roboto Slab"/>
              <a:buNone/>
            </a:pPr>
            <a:r>
              <a:rPr lang="en-US" sz="1350">
                <a:solidFill>
                  <a:srgbClr val="D6E5EF"/>
                </a:solidFill>
                <a:latin typeface="Roboto Slab"/>
                <a:ea typeface="Roboto Slab"/>
                <a:cs typeface="Roboto Slab"/>
                <a:sym typeface="Roboto Slab"/>
              </a:rPr>
              <a:t>04</a:t>
            </a:r>
            <a:endParaRPr b="0" i="0" sz="1350" u="none" cap="none" strike="noStrike"/>
          </a:p>
        </p:txBody>
      </p:sp>
      <p:sp>
        <p:nvSpPr>
          <p:cNvPr id="328" name="Google Shape;328;p36"/>
          <p:cNvSpPr/>
          <p:nvPr/>
        </p:nvSpPr>
        <p:spPr>
          <a:xfrm>
            <a:off x="7462125" y="4419475"/>
            <a:ext cx="1485900" cy="233400"/>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D6E5EF"/>
              </a:buClr>
              <a:buSzPts val="950"/>
              <a:buFont typeface="Roboto Slab"/>
              <a:buNone/>
            </a:pPr>
            <a:r>
              <a:rPr lang="en-US" sz="1550">
                <a:solidFill>
                  <a:srgbClr val="D6E5EF"/>
                </a:solidFill>
                <a:latin typeface="Roboto Slab"/>
                <a:ea typeface="Roboto Slab"/>
                <a:cs typeface="Roboto Slab"/>
                <a:sym typeface="Roboto Slab"/>
              </a:rPr>
              <a:t>DISCONNECT</a:t>
            </a:r>
            <a:r>
              <a:rPr b="0" i="0" lang="en-US" sz="1550" u="none" cap="none" strike="noStrike">
                <a:solidFill>
                  <a:srgbClr val="D6E5EF"/>
                </a:solidFill>
                <a:latin typeface="Roboto Slab"/>
                <a:ea typeface="Roboto Slab"/>
                <a:cs typeface="Roboto Slab"/>
                <a:sym typeface="Roboto Slab"/>
              </a:rPr>
              <a:t>:</a:t>
            </a:r>
            <a:endParaRPr b="0" i="0" sz="1550" u="none" cap="none" strike="noStrike"/>
          </a:p>
        </p:txBody>
      </p:sp>
      <p:sp>
        <p:nvSpPr>
          <p:cNvPr id="329" name="Google Shape;329;p36"/>
          <p:cNvSpPr/>
          <p:nvPr/>
        </p:nvSpPr>
        <p:spPr>
          <a:xfrm>
            <a:off x="7462125" y="4678463"/>
            <a:ext cx="6150900" cy="4761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rgbClr val="D6E5EF"/>
              </a:buClr>
              <a:buSzPts val="750"/>
              <a:buFont typeface="Roboto"/>
              <a:buNone/>
            </a:pPr>
            <a:r>
              <a:rPr lang="en-US" sz="1550">
                <a:solidFill>
                  <a:srgbClr val="D6E5EF"/>
                </a:solidFill>
                <a:latin typeface="Roboto"/>
                <a:ea typeface="Roboto"/>
                <a:cs typeface="Roboto"/>
                <a:sym typeface="Roboto"/>
              </a:rPr>
              <a:t>El cliente cierra la sesión limpiamente enviando DISCONNECT</a:t>
            </a:r>
            <a:endParaRPr sz="1550">
              <a:solidFill>
                <a:schemeClr val="dk1"/>
              </a:solidFill>
            </a:endParaRPr>
          </a:p>
          <a:p>
            <a:pPr indent="0" lvl="0" marL="0" rtl="0" algn="l">
              <a:lnSpc>
                <a:spcPct val="120000"/>
              </a:lnSpc>
              <a:spcBef>
                <a:spcPts val="0"/>
              </a:spcBef>
              <a:spcAft>
                <a:spcPts val="0"/>
              </a:spcAft>
              <a:buClr>
                <a:srgbClr val="D6E5EF"/>
              </a:buClr>
              <a:buSzPts val="750"/>
              <a:buFont typeface="Roboto"/>
              <a:buNone/>
            </a:pPr>
            <a:r>
              <a:t/>
            </a:r>
            <a:endParaRPr sz="1350">
              <a:solidFill>
                <a:srgbClr val="D6E5EF"/>
              </a:solidFill>
              <a:latin typeface="Roboto"/>
              <a:ea typeface="Roboto"/>
              <a:cs typeface="Roboto"/>
              <a:sym typeface="Roboto"/>
            </a:endParaRPr>
          </a:p>
        </p:txBody>
      </p:sp>
      <p:cxnSp>
        <p:nvCxnSpPr>
          <p:cNvPr id="330" name="Google Shape;330;p36"/>
          <p:cNvCxnSpPr/>
          <p:nvPr/>
        </p:nvCxnSpPr>
        <p:spPr>
          <a:xfrm>
            <a:off x="7462132" y="4393755"/>
            <a:ext cx="4510200" cy="600"/>
          </a:xfrm>
          <a:prstGeom prst="straightConnector1">
            <a:avLst/>
          </a:prstGeom>
          <a:noFill/>
          <a:ln cap="flat" cmpd="sng" w="28575">
            <a:solidFill>
              <a:schemeClr val="dk2"/>
            </a:solidFill>
            <a:prstDash val="solid"/>
            <a:round/>
            <a:headEnd len="med" w="med" type="none"/>
            <a:tailEnd len="med" w="med" type="none"/>
          </a:ln>
        </p:spPr>
      </p:cxnSp>
      <p:pic>
        <p:nvPicPr>
          <p:cNvPr id="331" name="Google Shape;331;p36"/>
          <p:cNvPicPr preferRelativeResize="0"/>
          <p:nvPr/>
        </p:nvPicPr>
        <p:blipFill>
          <a:blip r:embed="rId4">
            <a:alphaModFix/>
          </a:blip>
          <a:stretch>
            <a:fillRect/>
          </a:stretch>
        </p:blipFill>
        <p:spPr>
          <a:xfrm>
            <a:off x="861500" y="3105097"/>
            <a:ext cx="6378749" cy="2692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7"/>
          <p:cNvSpPr/>
          <p:nvPr/>
        </p:nvSpPr>
        <p:spPr>
          <a:xfrm>
            <a:off x="730925" y="630555"/>
            <a:ext cx="6956227" cy="571024"/>
          </a:xfrm>
          <a:prstGeom prst="rect">
            <a:avLst/>
          </a:prstGeom>
          <a:noFill/>
          <a:ln>
            <a:noFill/>
          </a:ln>
        </p:spPr>
        <p:txBody>
          <a:bodyPr anchorCtr="0" anchor="t" bIns="0" lIns="0" spcFirstLastPara="1" rIns="0" wrap="square" tIns="0">
            <a:noAutofit/>
          </a:bodyPr>
          <a:lstStyle/>
          <a:p>
            <a:pPr indent="0" lvl="0" marL="0" marR="0" rtl="0" algn="l">
              <a:lnSpc>
                <a:spcPct val="125352"/>
              </a:lnSpc>
              <a:spcBef>
                <a:spcPts val="0"/>
              </a:spcBef>
              <a:spcAft>
                <a:spcPts val="0"/>
              </a:spcAft>
              <a:buClr>
                <a:srgbClr val="76B9FF"/>
              </a:buClr>
              <a:buSzPts val="3550"/>
              <a:buFont typeface="Roboto Slab"/>
              <a:buNone/>
            </a:pPr>
            <a:r>
              <a:rPr b="0" i="0" lang="en-US" sz="3550" u="none" cap="none" strike="noStrike">
                <a:solidFill>
                  <a:srgbClr val="76B9FF"/>
                </a:solidFill>
                <a:latin typeface="Roboto Slab"/>
                <a:ea typeface="Roboto Slab"/>
                <a:cs typeface="Roboto Slab"/>
                <a:sym typeface="Roboto Slab"/>
              </a:rPr>
              <a:t>Estructura de Mensajes y Topics</a:t>
            </a:r>
            <a:endParaRPr b="0" i="0" sz="3550" u="none" cap="none" strike="noStrike"/>
          </a:p>
        </p:txBody>
      </p:sp>
      <p:sp>
        <p:nvSpPr>
          <p:cNvPr id="338" name="Google Shape;338;p37"/>
          <p:cNvSpPr/>
          <p:nvPr/>
        </p:nvSpPr>
        <p:spPr>
          <a:xfrm>
            <a:off x="730925" y="1538049"/>
            <a:ext cx="13168551" cy="56149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6E5EF"/>
              </a:buClr>
              <a:buSzPts val="1400"/>
              <a:buFont typeface="Roboto"/>
              <a:buNone/>
            </a:pPr>
            <a:r>
              <a:rPr b="0" i="0" lang="en-US" sz="1400" u="none" cap="none" strike="noStrike">
                <a:solidFill>
                  <a:srgbClr val="D6E5EF"/>
                </a:solidFill>
                <a:latin typeface="Roboto"/>
                <a:ea typeface="Roboto"/>
                <a:cs typeface="Roboto"/>
                <a:sym typeface="Roboto"/>
              </a:rPr>
              <a:t>Cada mensaje MQTT consta de 3 partes bien definidas que garantizan su ligereza y eficiencia. Además, los topics permiten filtrar y enrutar mensajes con gran flexibilidad.</a:t>
            </a:r>
            <a:endParaRPr b="0" i="0" sz="1400" u="none" cap="none" strike="noStrike"/>
          </a:p>
        </p:txBody>
      </p:sp>
      <p:sp>
        <p:nvSpPr>
          <p:cNvPr id="339" name="Google Shape;339;p37"/>
          <p:cNvSpPr/>
          <p:nvPr/>
        </p:nvSpPr>
        <p:spPr>
          <a:xfrm>
            <a:off x="730925" y="2456974"/>
            <a:ext cx="2900124" cy="28551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76B9FF"/>
              </a:buClr>
              <a:buSzPts val="1750"/>
              <a:buFont typeface="Roboto Slab"/>
              <a:buNone/>
            </a:pPr>
            <a:r>
              <a:rPr b="0" i="0" lang="en-US" sz="1750" u="none" cap="none" strike="noStrike">
                <a:solidFill>
                  <a:srgbClr val="76B9FF"/>
                </a:solidFill>
                <a:latin typeface="Roboto Slab"/>
                <a:ea typeface="Roboto Slab"/>
                <a:cs typeface="Roboto Slab"/>
                <a:sym typeface="Roboto Slab"/>
              </a:rPr>
              <a:t>Las 3 partes de un mensaje</a:t>
            </a:r>
            <a:endParaRPr b="0" i="0" sz="1750" u="none" cap="none" strike="noStrike"/>
          </a:p>
        </p:txBody>
      </p:sp>
      <p:sp>
        <p:nvSpPr>
          <p:cNvPr id="340" name="Google Shape;340;p37"/>
          <p:cNvSpPr/>
          <p:nvPr/>
        </p:nvSpPr>
        <p:spPr>
          <a:xfrm>
            <a:off x="730925" y="2931676"/>
            <a:ext cx="6361390" cy="1380530"/>
          </a:xfrm>
          <a:prstGeom prst="roundRect">
            <a:avLst>
              <a:gd fmla="val 1986"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7"/>
          <p:cNvSpPr/>
          <p:nvPr/>
        </p:nvSpPr>
        <p:spPr>
          <a:xfrm>
            <a:off x="913567" y="3114318"/>
            <a:ext cx="3074194" cy="28551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6E5EF"/>
              </a:buClr>
              <a:buSzPts val="1750"/>
              <a:buFont typeface="Roboto Slab"/>
              <a:buNone/>
            </a:pPr>
            <a:r>
              <a:rPr b="0" i="0" lang="en-US" sz="1750" u="none" cap="none" strike="noStrike">
                <a:solidFill>
                  <a:srgbClr val="D6E5EF"/>
                </a:solidFill>
                <a:latin typeface="Roboto Slab"/>
                <a:ea typeface="Roboto Slab"/>
                <a:cs typeface="Roboto Slab"/>
                <a:sym typeface="Roboto Slab"/>
              </a:rPr>
              <a:t>Cabecera Fija (Fixed Header)</a:t>
            </a:r>
            <a:endParaRPr b="0" i="0" sz="1750" u="none" cap="none" strike="noStrike"/>
          </a:p>
        </p:txBody>
      </p:sp>
      <p:sp>
        <p:nvSpPr>
          <p:cNvPr id="342" name="Google Shape;342;p37"/>
          <p:cNvSpPr/>
          <p:nvPr/>
        </p:nvSpPr>
        <p:spPr>
          <a:xfrm>
            <a:off x="913567" y="3568065"/>
            <a:ext cx="5996107" cy="56149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6E5EF"/>
              </a:buClr>
              <a:buSzPts val="1400"/>
              <a:buFont typeface="Roboto"/>
              <a:buNone/>
            </a:pPr>
            <a:r>
              <a:rPr b="0" i="0" lang="en-US" sz="1400" u="none" cap="none" strike="noStrike">
                <a:solidFill>
                  <a:srgbClr val="D6E5EF"/>
                </a:solidFill>
                <a:latin typeface="Roboto"/>
                <a:ea typeface="Roboto"/>
                <a:cs typeface="Roboto"/>
                <a:sym typeface="Roboto"/>
              </a:rPr>
              <a:t>Obligatoria, ocupa 2-5 bytes. Contiene el código de control (tipo de mensaje) y la longitud del paquete.</a:t>
            </a:r>
            <a:endParaRPr b="0" i="0" sz="1400" u="none" cap="none" strike="noStrike"/>
          </a:p>
        </p:txBody>
      </p:sp>
      <p:sp>
        <p:nvSpPr>
          <p:cNvPr id="343" name="Google Shape;343;p37"/>
          <p:cNvSpPr/>
          <p:nvPr/>
        </p:nvSpPr>
        <p:spPr>
          <a:xfrm>
            <a:off x="730925" y="4480441"/>
            <a:ext cx="6361390" cy="1380530"/>
          </a:xfrm>
          <a:prstGeom prst="roundRect">
            <a:avLst>
              <a:gd fmla="val 1986"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7"/>
          <p:cNvSpPr/>
          <p:nvPr/>
        </p:nvSpPr>
        <p:spPr>
          <a:xfrm>
            <a:off x="913567" y="4663083"/>
            <a:ext cx="3884533" cy="28551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6E5EF"/>
              </a:buClr>
              <a:buSzPts val="1750"/>
              <a:buFont typeface="Roboto Slab"/>
              <a:buNone/>
            </a:pPr>
            <a:r>
              <a:rPr b="0" i="0" lang="en-US" sz="1750" u="none" cap="none" strike="noStrike">
                <a:solidFill>
                  <a:srgbClr val="D6E5EF"/>
                </a:solidFill>
                <a:latin typeface="Roboto Slab"/>
                <a:ea typeface="Roboto Slab"/>
                <a:cs typeface="Roboto Slab"/>
                <a:sym typeface="Roboto Slab"/>
              </a:rPr>
              <a:t>Cabecera Variable (Optional Header)</a:t>
            </a:r>
            <a:endParaRPr b="0" i="0" sz="1750" u="none" cap="none" strike="noStrike"/>
          </a:p>
        </p:txBody>
      </p:sp>
      <p:sp>
        <p:nvSpPr>
          <p:cNvPr id="345" name="Google Shape;345;p37"/>
          <p:cNvSpPr/>
          <p:nvPr/>
        </p:nvSpPr>
        <p:spPr>
          <a:xfrm>
            <a:off x="913567" y="5116830"/>
            <a:ext cx="5996107" cy="56149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6E5EF"/>
              </a:buClr>
              <a:buSzPts val="1400"/>
              <a:buFont typeface="Roboto"/>
              <a:buNone/>
            </a:pPr>
            <a:r>
              <a:rPr b="0" i="0" lang="en-US" sz="1400" u="none" cap="none" strike="noStrike">
                <a:solidFill>
                  <a:srgbClr val="D6E5EF"/>
                </a:solidFill>
                <a:latin typeface="Roboto"/>
                <a:ea typeface="Roboto"/>
                <a:cs typeface="Roboto"/>
                <a:sym typeface="Roboto"/>
              </a:rPr>
              <a:t>Opcional. Contiene información adicional necesaria en ciertos mensajes o situaciones.</a:t>
            </a:r>
            <a:endParaRPr b="0" i="0" sz="1400" u="none" cap="none" strike="noStrike"/>
          </a:p>
        </p:txBody>
      </p:sp>
      <p:sp>
        <p:nvSpPr>
          <p:cNvPr id="346" name="Google Shape;346;p37"/>
          <p:cNvSpPr/>
          <p:nvPr/>
        </p:nvSpPr>
        <p:spPr>
          <a:xfrm>
            <a:off x="730925" y="6029206"/>
            <a:ext cx="6361390" cy="1380530"/>
          </a:xfrm>
          <a:prstGeom prst="roundRect">
            <a:avLst>
              <a:gd fmla="val 1986"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7"/>
          <p:cNvSpPr/>
          <p:nvPr/>
        </p:nvSpPr>
        <p:spPr>
          <a:xfrm>
            <a:off x="913567" y="6211848"/>
            <a:ext cx="2284214" cy="28551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D6E5EF"/>
              </a:buClr>
              <a:buSzPts val="1750"/>
              <a:buFont typeface="Roboto Slab"/>
              <a:buNone/>
            </a:pPr>
            <a:r>
              <a:rPr b="0" i="0" lang="en-US" sz="1750" u="none" cap="none" strike="noStrike">
                <a:solidFill>
                  <a:srgbClr val="D6E5EF"/>
                </a:solidFill>
                <a:latin typeface="Roboto Slab"/>
                <a:ea typeface="Roboto Slab"/>
                <a:cs typeface="Roboto Slab"/>
                <a:sym typeface="Roboto Slab"/>
              </a:rPr>
              <a:t>Contenido (Payload)</a:t>
            </a:r>
            <a:endParaRPr b="0" i="0" sz="1750" u="none" cap="none" strike="noStrike"/>
          </a:p>
        </p:txBody>
      </p:sp>
      <p:sp>
        <p:nvSpPr>
          <p:cNvPr id="348" name="Google Shape;348;p37"/>
          <p:cNvSpPr/>
          <p:nvPr/>
        </p:nvSpPr>
        <p:spPr>
          <a:xfrm>
            <a:off x="913567" y="6665595"/>
            <a:ext cx="5996107" cy="56149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6E5EF"/>
              </a:buClr>
              <a:buSzPts val="1400"/>
              <a:buFont typeface="Roboto"/>
              <a:buNone/>
            </a:pPr>
            <a:r>
              <a:rPr b="0" i="0" lang="en-US" sz="1400" u="none" cap="none" strike="noStrike">
                <a:solidFill>
                  <a:srgbClr val="D6E5EF"/>
                </a:solidFill>
                <a:latin typeface="Roboto"/>
                <a:ea typeface="Roboto"/>
                <a:cs typeface="Roboto"/>
                <a:sym typeface="Roboto"/>
              </a:rPr>
              <a:t>El contenido real del mensaje. Máximo teórico 256 MB, aunque en la práctica suele limitarse a 2-4 kB.</a:t>
            </a:r>
            <a:endParaRPr b="0" i="0" sz="1400" u="none" cap="none" strike="noStrike"/>
          </a:p>
        </p:txBody>
      </p:sp>
      <p:sp>
        <p:nvSpPr>
          <p:cNvPr id="349" name="Google Shape;349;p37"/>
          <p:cNvSpPr/>
          <p:nvPr/>
        </p:nvSpPr>
        <p:spPr>
          <a:xfrm>
            <a:off x="7545705" y="2456974"/>
            <a:ext cx="2284214" cy="285512"/>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76B9FF"/>
              </a:buClr>
              <a:buSzPts val="1750"/>
              <a:buFont typeface="Roboto Slab"/>
              <a:buNone/>
            </a:pPr>
            <a:r>
              <a:rPr b="0" i="0" lang="en-US" sz="1750" u="none" cap="none" strike="noStrike">
                <a:solidFill>
                  <a:srgbClr val="76B9FF"/>
                </a:solidFill>
                <a:latin typeface="Roboto Slab"/>
                <a:ea typeface="Roboto Slab"/>
                <a:cs typeface="Roboto Slab"/>
                <a:sym typeface="Roboto Slab"/>
              </a:rPr>
              <a:t>Topics y comodines</a:t>
            </a:r>
            <a:endParaRPr b="0" i="0" sz="1750" u="none" cap="none" strike="noStrike"/>
          </a:p>
        </p:txBody>
      </p:sp>
      <p:sp>
        <p:nvSpPr>
          <p:cNvPr id="350" name="Google Shape;350;p37"/>
          <p:cNvSpPr/>
          <p:nvPr/>
        </p:nvSpPr>
        <p:spPr>
          <a:xfrm>
            <a:off x="7545705" y="2910721"/>
            <a:ext cx="6361390" cy="561499"/>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6E5EF"/>
              </a:buClr>
              <a:buSzPts val="1400"/>
              <a:buFont typeface="Roboto"/>
              <a:buNone/>
            </a:pPr>
            <a:r>
              <a:rPr b="0" i="0" lang="en-US" sz="1400" u="none" cap="none" strike="noStrike">
                <a:solidFill>
                  <a:srgbClr val="D6E5EF"/>
                </a:solidFill>
                <a:latin typeface="Roboto"/>
                <a:ea typeface="Roboto"/>
                <a:cs typeface="Roboto"/>
                <a:sym typeface="Roboto"/>
              </a:rPr>
              <a:t>Los topics se organizan jerárquicamente (ej: casa/salon/temperatura). MQTT permite usar comodines para suscripciones flexibles:</a:t>
            </a:r>
            <a:endParaRPr b="0" i="0" sz="1400" u="none" cap="none" strike="noStrike"/>
          </a:p>
        </p:txBody>
      </p:sp>
      <p:sp>
        <p:nvSpPr>
          <p:cNvPr id="351" name="Google Shape;351;p37"/>
          <p:cNvSpPr/>
          <p:nvPr/>
        </p:nvSpPr>
        <p:spPr>
          <a:xfrm>
            <a:off x="7545705" y="3623548"/>
            <a:ext cx="6361390" cy="1802130"/>
          </a:xfrm>
          <a:prstGeom prst="rect">
            <a:avLst/>
          </a:prstGeom>
          <a:noFill/>
          <a:ln>
            <a:noFill/>
          </a:ln>
        </p:spPr>
        <p:txBody>
          <a:bodyPr anchorCtr="0" anchor="t" bIns="0" lIns="0" spcFirstLastPara="1" rIns="0" wrap="square" tIns="0">
            <a:noAutofit/>
          </a:bodyPr>
          <a:lstStyle/>
          <a:p>
            <a:pPr indent="0" lvl="0" marL="0" marR="0" rtl="0" algn="l">
              <a:lnSpc>
                <a:spcPct val="157142"/>
              </a:lnSpc>
              <a:spcBef>
                <a:spcPts val="0"/>
              </a:spcBef>
              <a:spcAft>
                <a:spcPts val="0"/>
              </a:spcAft>
              <a:buClr>
                <a:srgbClr val="D6E5EF"/>
              </a:buClr>
              <a:buSzPts val="1400"/>
              <a:buFont typeface="Roboto"/>
              <a:buNone/>
            </a:pPr>
            <a:r>
              <a:rPr b="1" i="0" lang="en-US" sz="1400" u="none" cap="none" strike="noStrike">
                <a:solidFill>
                  <a:srgbClr val="D6E5EF"/>
                </a:solidFill>
                <a:latin typeface="Roboto"/>
                <a:ea typeface="Roboto"/>
                <a:cs typeface="Roboto"/>
                <a:sym typeface="Roboto"/>
              </a:rPr>
              <a:t>+ (más):</a:t>
            </a:r>
            <a:r>
              <a:rPr b="0" i="0" lang="en-US" sz="1400" u="none" cap="none" strike="noStrike">
                <a:solidFill>
                  <a:srgbClr val="D6E5EF"/>
                </a:solidFill>
                <a:latin typeface="Roboto"/>
                <a:ea typeface="Roboto"/>
                <a:cs typeface="Roboto"/>
                <a:sym typeface="Roboto"/>
              </a:rPr>
              <a:t> representa un solo nivel. Ej: iabd2425/+/led captura iabd2425/esp32/led o iabd2425/sensor/led</a:t>
            </a:r>
            <a:endParaRPr b="0" i="0" sz="1400" u="none" cap="none" strike="noStrike"/>
          </a:p>
          <a:p>
            <a:pPr indent="0" lvl="0" marL="0" marR="0" rtl="0" algn="l">
              <a:lnSpc>
                <a:spcPct val="157142"/>
              </a:lnSpc>
              <a:spcBef>
                <a:spcPts val="0"/>
              </a:spcBef>
              <a:spcAft>
                <a:spcPts val="0"/>
              </a:spcAft>
              <a:buClr>
                <a:srgbClr val="D6E5EF"/>
              </a:buClr>
              <a:buSzPts val="1400"/>
              <a:buFont typeface="Roboto"/>
              <a:buNone/>
            </a:pPr>
            <a:r>
              <a:rPr b="1" i="0" lang="en-US" sz="1400" u="none" cap="none" strike="noStrike">
                <a:solidFill>
                  <a:srgbClr val="D6E5EF"/>
                </a:solidFill>
                <a:latin typeface="Roboto"/>
                <a:ea typeface="Roboto"/>
                <a:cs typeface="Roboto"/>
                <a:sym typeface="Roboto"/>
              </a:rPr>
              <a:t># (almohadilla):</a:t>
            </a:r>
            <a:r>
              <a:rPr b="0" i="0" lang="en-US" sz="1400" u="none" cap="none" strike="noStrike">
                <a:solidFill>
                  <a:srgbClr val="D6E5EF"/>
                </a:solidFill>
                <a:latin typeface="Roboto"/>
                <a:ea typeface="Roboto"/>
                <a:cs typeface="Roboto"/>
                <a:sym typeface="Roboto"/>
              </a:rPr>
              <a:t> representa múltiples niveles al final. Ej: iabd2425/# captura cualquier topic que empiece por iabd2425/</a:t>
            </a:r>
            <a:endParaRPr b="0" i="0" sz="1400" u="none" cap="none" strike="noStrike"/>
          </a:p>
          <a:p>
            <a:pPr indent="-342900" lvl="0" marL="342900" marR="0" rtl="0" algn="l">
              <a:lnSpc>
                <a:spcPct val="157142"/>
              </a:lnSpc>
              <a:spcBef>
                <a:spcPts val="0"/>
              </a:spcBef>
              <a:spcAft>
                <a:spcPts val="0"/>
              </a:spcAft>
              <a:buClr>
                <a:srgbClr val="D6E5EF"/>
              </a:buClr>
              <a:buSzPts val="1400"/>
              <a:buFont typeface="Roboto"/>
              <a:buChar char="•"/>
            </a:pPr>
            <a:r>
              <a:rPr b="0" i="0" lang="en-US" sz="1400" u="none" cap="none" strike="noStrike">
                <a:solidFill>
                  <a:srgbClr val="D6E5EF"/>
                </a:solidFill>
                <a:latin typeface="Roboto"/>
                <a:ea typeface="Roboto"/>
                <a:cs typeface="Roboto"/>
                <a:sym typeface="Roboto"/>
              </a:rPr>
              <a:t>Todos los suscriptores con topic coincidente reciben el mensaje (no hay distribución selectiva)</a:t>
            </a:r>
            <a:endParaRPr b="0" i="0" sz="140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8"/>
          <p:cNvSpPr/>
          <p:nvPr/>
        </p:nvSpPr>
        <p:spPr>
          <a:xfrm>
            <a:off x="793790" y="1890474"/>
            <a:ext cx="5802987"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Calidad de Servicio (QoS)</a:t>
            </a:r>
            <a:endParaRPr b="0" i="0" sz="3900" u="none" cap="none" strike="noStrike"/>
          </a:p>
        </p:txBody>
      </p:sp>
      <p:sp>
        <p:nvSpPr>
          <p:cNvPr id="358" name="Google Shape;358;p38"/>
          <p:cNvSpPr/>
          <p:nvPr/>
        </p:nvSpPr>
        <p:spPr>
          <a:xfrm>
            <a:off x="793790" y="2907387"/>
            <a:ext cx="13042821"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MQTT dispone de un mecanismo de calidad del servicio (QoS) para gestionar la robustez del envío de mensajes ante fallos de conectividad. A mayor nivel de QoS, mayor fiabilidad pero también mayor carga en el sistema.</a:t>
            </a:r>
            <a:endParaRPr b="0" i="0" sz="1550" u="none" cap="none" strike="noStrike"/>
          </a:p>
        </p:txBody>
      </p:sp>
      <p:sp>
        <p:nvSpPr>
          <p:cNvPr id="359" name="Google Shape;359;p38"/>
          <p:cNvSpPr/>
          <p:nvPr/>
        </p:nvSpPr>
        <p:spPr>
          <a:xfrm>
            <a:off x="793790" y="3765709"/>
            <a:ext cx="13042821" cy="2096095"/>
          </a:xfrm>
          <a:prstGeom prst="roundRect">
            <a:avLst>
              <a:gd fmla="val 1420"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8"/>
          <p:cNvSpPr/>
          <p:nvPr/>
        </p:nvSpPr>
        <p:spPr>
          <a:xfrm>
            <a:off x="793790" y="3765709"/>
            <a:ext cx="4347567" cy="2096095"/>
          </a:xfrm>
          <a:prstGeom prst="roundRect">
            <a:avLst>
              <a:gd fmla="val 1420" name="adj"/>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8"/>
          <p:cNvSpPr/>
          <p:nvPr/>
        </p:nvSpPr>
        <p:spPr>
          <a:xfrm>
            <a:off x="992148" y="3964067"/>
            <a:ext cx="249876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QoS 0 — At most once</a:t>
            </a:r>
            <a:endParaRPr b="0" i="0" sz="1950" u="none" cap="none" strike="noStrike"/>
          </a:p>
        </p:txBody>
      </p:sp>
      <p:sp>
        <p:nvSpPr>
          <p:cNvPr id="362" name="Google Shape;362;p38"/>
          <p:cNvSpPr/>
          <p:nvPr/>
        </p:nvSpPr>
        <p:spPr>
          <a:xfrm>
            <a:off x="992148" y="4393287"/>
            <a:ext cx="395085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El mensaje se envía una única vez sin acuse de recibo. Si se pierde en el camino, no se reenvía. Mínima carga, máxima velocidad.</a:t>
            </a:r>
            <a:endParaRPr b="0" i="0" sz="1550" u="none" cap="none" strike="noStrike"/>
          </a:p>
        </p:txBody>
      </p:sp>
      <p:sp>
        <p:nvSpPr>
          <p:cNvPr id="363" name="Google Shape;363;p38"/>
          <p:cNvSpPr/>
          <p:nvPr/>
        </p:nvSpPr>
        <p:spPr>
          <a:xfrm>
            <a:off x="5141357" y="3765709"/>
            <a:ext cx="4347567" cy="2096095"/>
          </a:xfrm>
          <a:prstGeom prst="rect">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8"/>
          <p:cNvSpPr/>
          <p:nvPr/>
        </p:nvSpPr>
        <p:spPr>
          <a:xfrm>
            <a:off x="5141357" y="3765709"/>
            <a:ext cx="22860" cy="2096095"/>
          </a:xfrm>
          <a:prstGeom prst="roundRect">
            <a:avLst>
              <a:gd fmla="val 130232" name="adj"/>
            </a:avLst>
          </a:prstGeom>
          <a:solidFill>
            <a:srgbClr val="58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8"/>
          <p:cNvSpPr/>
          <p:nvPr/>
        </p:nvSpPr>
        <p:spPr>
          <a:xfrm>
            <a:off x="5339715" y="3964067"/>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QoS 1 — At least once</a:t>
            </a:r>
            <a:endParaRPr b="0" i="0" sz="1950" u="none" cap="none" strike="noStrike"/>
          </a:p>
        </p:txBody>
      </p:sp>
      <p:sp>
        <p:nvSpPr>
          <p:cNvPr id="366" name="Google Shape;366;p38"/>
          <p:cNvSpPr/>
          <p:nvPr/>
        </p:nvSpPr>
        <p:spPr>
          <a:xfrm>
            <a:off x="5339715" y="4393287"/>
            <a:ext cx="3950851"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El mensaje se reenvía hasta recibir confirmación PUBACK del broker. Garantiza entrega mínima de una vez, pero puede generar duplicados.</a:t>
            </a:r>
            <a:endParaRPr b="0" i="0" sz="1550" u="none" cap="none" strike="noStrike"/>
          </a:p>
        </p:txBody>
      </p:sp>
      <p:sp>
        <p:nvSpPr>
          <p:cNvPr id="367" name="Google Shape;367;p38"/>
          <p:cNvSpPr/>
          <p:nvPr/>
        </p:nvSpPr>
        <p:spPr>
          <a:xfrm>
            <a:off x="9488924" y="3765709"/>
            <a:ext cx="4347567" cy="2096095"/>
          </a:xfrm>
          <a:prstGeom prst="rect">
            <a:avLst/>
          </a:prstGeom>
          <a:solidFill>
            <a:srgbClr val="3F46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38"/>
          <p:cNvSpPr/>
          <p:nvPr/>
        </p:nvSpPr>
        <p:spPr>
          <a:xfrm>
            <a:off x="9488924" y="3765709"/>
            <a:ext cx="22860" cy="2096095"/>
          </a:xfrm>
          <a:prstGeom prst="roundRect">
            <a:avLst>
              <a:gd fmla="val 130232" name="adj"/>
            </a:avLst>
          </a:prstGeom>
          <a:solidFill>
            <a:srgbClr val="585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8"/>
          <p:cNvSpPr/>
          <p:nvPr/>
        </p:nvSpPr>
        <p:spPr>
          <a:xfrm>
            <a:off x="9687282" y="3964067"/>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D6E5EF"/>
              </a:buClr>
              <a:buSzPts val="1950"/>
              <a:buFont typeface="Roboto Slab"/>
              <a:buNone/>
            </a:pPr>
            <a:r>
              <a:rPr b="0" i="0" lang="en-US" sz="1950" u="none" cap="none" strike="noStrike">
                <a:solidFill>
                  <a:srgbClr val="D6E5EF"/>
                </a:solidFill>
                <a:latin typeface="Roboto Slab"/>
                <a:ea typeface="Roboto Slab"/>
                <a:cs typeface="Roboto Slab"/>
                <a:sym typeface="Roboto Slab"/>
              </a:rPr>
              <a:t>QoS 2 — Exactly once</a:t>
            </a:r>
            <a:endParaRPr b="0" i="0" sz="1950" u="none" cap="none" strike="noStrike"/>
          </a:p>
        </p:txBody>
      </p:sp>
      <p:sp>
        <p:nvSpPr>
          <p:cNvPr id="370" name="Google Shape;370;p38"/>
          <p:cNvSpPr/>
          <p:nvPr/>
        </p:nvSpPr>
        <p:spPr>
          <a:xfrm>
            <a:off x="9687282" y="4393287"/>
            <a:ext cx="3950851" cy="127015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Garantiza entrega exactamente una vez mediante un handshake de 4 pasos: PUBLISH → PUBREC → PUBREL → PUBCOMP. Máxima fiabilidad, mayor carga.</a:t>
            </a:r>
            <a:endParaRPr b="0" i="0" sz="1550" u="none" cap="none" strike="noStrike"/>
          </a:p>
        </p:txBody>
      </p:sp>
      <p:sp>
        <p:nvSpPr>
          <p:cNvPr id="371" name="Google Shape;371;p38"/>
          <p:cNvSpPr/>
          <p:nvPr/>
        </p:nvSpPr>
        <p:spPr>
          <a:xfrm>
            <a:off x="793790" y="6085046"/>
            <a:ext cx="13042821"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D6E5EF"/>
              </a:buClr>
              <a:buSzPts val="1250"/>
              <a:buFont typeface="Roboto"/>
              <a:buNone/>
            </a:pPr>
            <a:r>
              <a:rPr b="0" i="0" lang="en-US" sz="1250" u="none" cap="none" strike="noStrike">
                <a:solidFill>
                  <a:srgbClr val="D6E5EF"/>
                </a:solidFill>
                <a:latin typeface="Roboto"/>
                <a:ea typeface="Roboto"/>
                <a:cs typeface="Roboto"/>
                <a:sym typeface="Roboto"/>
              </a:rPr>
              <a:t>El nivel de QoS se configura en el cliente (publicador y suscriptor) según las necesidades de fiabilidad del sistema.</a:t>
            </a:r>
            <a:endParaRPr b="0" i="0" sz="125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9"/>
          <p:cNvSpPr/>
          <p:nvPr/>
        </p:nvSpPr>
        <p:spPr>
          <a:xfrm>
            <a:off x="793790" y="1030248"/>
            <a:ext cx="7492246" cy="620078"/>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76B9FF"/>
              </a:buClr>
              <a:buSzPts val="3900"/>
              <a:buFont typeface="Roboto Slab"/>
              <a:buNone/>
            </a:pPr>
            <a:r>
              <a:rPr b="0" i="0" lang="en-US" sz="3900" u="none" cap="none" strike="noStrike">
                <a:solidFill>
                  <a:srgbClr val="76B9FF"/>
                </a:solidFill>
                <a:latin typeface="Roboto Slab"/>
                <a:ea typeface="Roboto Slab"/>
                <a:cs typeface="Roboto Slab"/>
                <a:sym typeface="Roboto Slab"/>
              </a:rPr>
              <a:t>Retención, Seguridad y Ventajas</a:t>
            </a:r>
            <a:endParaRPr b="0" i="0" sz="3900" u="none" cap="none" strike="noStrike"/>
          </a:p>
        </p:txBody>
      </p:sp>
      <p:sp>
        <p:nvSpPr>
          <p:cNvPr id="378" name="Google Shape;378;p39"/>
          <p:cNvSpPr/>
          <p:nvPr/>
        </p:nvSpPr>
        <p:spPr>
          <a:xfrm>
            <a:off x="793790" y="2146340"/>
            <a:ext cx="2684859"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Retención de Mensajes</a:t>
            </a:r>
            <a:endParaRPr b="0" i="0" sz="1950" u="none" cap="none" strike="noStrike"/>
          </a:p>
        </p:txBody>
      </p:sp>
      <p:sp>
        <p:nvSpPr>
          <p:cNvPr id="379" name="Google Shape;379;p39"/>
          <p:cNvSpPr/>
          <p:nvPr/>
        </p:nvSpPr>
        <p:spPr>
          <a:xfrm>
            <a:off x="793790" y="2654856"/>
            <a:ext cx="4025741" cy="95261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El broker puede almacenar el último mensaje publicado en un topic con el flag de retención activado.</a:t>
            </a:r>
            <a:endParaRPr b="0" i="0" sz="1550" u="none" cap="none" strike="noStrike"/>
          </a:p>
        </p:txBody>
      </p:sp>
      <p:sp>
        <p:nvSpPr>
          <p:cNvPr id="380" name="Google Shape;380;p39"/>
          <p:cNvSpPr/>
          <p:nvPr/>
        </p:nvSpPr>
        <p:spPr>
          <a:xfrm>
            <a:off x="793790" y="3786068"/>
            <a:ext cx="4025741" cy="2679144"/>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Mensaje retenido: el broker lo guarda cuando se publica con flag de retención</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Nuevos suscriptores reciben automáticamente el último mensaje retenido al conectarse</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Útil para conocer el estado actual de un dispositivo sin esperar a una nueva publicación</a:t>
            </a:r>
            <a:endParaRPr b="0" i="0" sz="1550" u="none" cap="none" strike="noStrike"/>
          </a:p>
        </p:txBody>
      </p:sp>
      <p:sp>
        <p:nvSpPr>
          <p:cNvPr id="381" name="Google Shape;381;p39"/>
          <p:cNvSpPr/>
          <p:nvPr/>
        </p:nvSpPr>
        <p:spPr>
          <a:xfrm>
            <a:off x="5311259" y="214634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Seguridad</a:t>
            </a:r>
            <a:endParaRPr b="0" i="0" sz="1950" u="none" cap="none" strike="noStrike"/>
          </a:p>
        </p:txBody>
      </p:sp>
      <p:sp>
        <p:nvSpPr>
          <p:cNvPr id="382" name="Google Shape;382;p39"/>
          <p:cNvSpPr/>
          <p:nvPr/>
        </p:nvSpPr>
        <p:spPr>
          <a:xfrm>
            <a:off x="5311259" y="2654856"/>
            <a:ext cx="4024313" cy="635079"/>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D6E5EF"/>
              </a:buClr>
              <a:buSzPts val="1550"/>
              <a:buFont typeface="Roboto"/>
              <a:buNone/>
            </a:pPr>
            <a:r>
              <a:rPr b="0" i="0" lang="en-US" sz="1550" u="none" cap="none" strike="noStrike">
                <a:solidFill>
                  <a:srgbClr val="D6E5EF"/>
                </a:solidFill>
                <a:latin typeface="Roboto"/>
                <a:ea typeface="Roboto"/>
                <a:cs typeface="Roboto"/>
                <a:sym typeface="Roboto"/>
              </a:rPr>
              <a:t>MQTT ofrece varias capas de seguridad adaptables a las capacidades del dispositivo:</a:t>
            </a:r>
            <a:endParaRPr b="0" i="0" sz="1550" u="none" cap="none" strike="noStrike"/>
          </a:p>
        </p:txBody>
      </p:sp>
      <p:sp>
        <p:nvSpPr>
          <p:cNvPr id="383" name="Google Shape;383;p39"/>
          <p:cNvSpPr/>
          <p:nvPr/>
        </p:nvSpPr>
        <p:spPr>
          <a:xfrm>
            <a:off x="5311259" y="3468529"/>
            <a:ext cx="4024313" cy="3453051"/>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Transporte cifrado mediante SSL/TLS (puerto 8883)</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Autenticación por usuario y contraseña (texto plano en muchos casos)</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Autenticación mediante certificado digital</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Posibilidad de conexiones anónimas (sin autenticación)</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Nota: SSL/TLS puede suponer carga importante en dispositivos IoT de baja potencia</a:t>
            </a:r>
            <a:endParaRPr b="0" i="0" sz="1550" u="none" cap="none" strike="noStrike"/>
          </a:p>
        </p:txBody>
      </p:sp>
      <p:sp>
        <p:nvSpPr>
          <p:cNvPr id="384" name="Google Shape;384;p39"/>
          <p:cNvSpPr/>
          <p:nvPr/>
        </p:nvSpPr>
        <p:spPr>
          <a:xfrm>
            <a:off x="9827300" y="2146340"/>
            <a:ext cx="2480905" cy="310158"/>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76B9FF"/>
              </a:buClr>
              <a:buSzPts val="1950"/>
              <a:buFont typeface="Roboto Slab"/>
              <a:buNone/>
            </a:pPr>
            <a:r>
              <a:rPr b="0" i="0" lang="en-US" sz="1950" u="none" cap="none" strike="noStrike">
                <a:solidFill>
                  <a:srgbClr val="76B9FF"/>
                </a:solidFill>
                <a:latin typeface="Roboto Slab"/>
                <a:ea typeface="Roboto Slab"/>
                <a:cs typeface="Roboto Slab"/>
                <a:sym typeface="Roboto Slab"/>
              </a:rPr>
              <a:t>Ventajas clave</a:t>
            </a:r>
            <a:endParaRPr b="0" i="0" sz="1950" u="none" cap="none" strike="noStrike"/>
          </a:p>
        </p:txBody>
      </p:sp>
      <p:sp>
        <p:nvSpPr>
          <p:cNvPr id="385" name="Google Shape;385;p39"/>
          <p:cNvSpPr/>
          <p:nvPr/>
        </p:nvSpPr>
        <p:spPr>
          <a:xfrm>
            <a:off x="9827300" y="2654856"/>
            <a:ext cx="4024313" cy="4475083"/>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Sencillez y ligereza: ideal para dispositivos de escasa potencia</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Bajo consumo energético: perfecto para dispositivos 24/7 o con batería</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Ancho de banda mínimo: funciona bien en redes inalámbricas o con problemas de calidad</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Escalabilidad y asincronismo gracias al patrón pub/sub</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Seguridad y QoS configurables según necesidades</a:t>
            </a:r>
            <a:endParaRPr b="0" i="0" sz="1550" u="none" cap="none" strike="noStrike"/>
          </a:p>
          <a:p>
            <a:pPr indent="-342900" lvl="0" marL="342900" marR="0" rtl="0" algn="l">
              <a:lnSpc>
                <a:spcPct val="161290"/>
              </a:lnSpc>
              <a:spcBef>
                <a:spcPts val="0"/>
              </a:spcBef>
              <a:spcAft>
                <a:spcPts val="0"/>
              </a:spcAft>
              <a:buClr>
                <a:srgbClr val="D6E5EF"/>
              </a:buClr>
              <a:buSzPts val="1550"/>
              <a:buFont typeface="Roboto"/>
              <a:buChar char="•"/>
            </a:pPr>
            <a:r>
              <a:rPr b="0" i="0" lang="en-US" sz="1550" u="none" cap="none" strike="noStrike">
                <a:solidFill>
                  <a:srgbClr val="D6E5EF"/>
                </a:solidFill>
                <a:latin typeface="Roboto"/>
                <a:ea typeface="Roboto"/>
                <a:cs typeface="Roboto"/>
                <a:sym typeface="Roboto"/>
              </a:rPr>
              <a:t>Solución madura, testada y consolidada: robustez y fiabilidad garantizadas</a:t>
            </a:r>
            <a:endParaRPr b="0" i="0" sz="15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