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8229600" cx="14630400"/>
  <p:notesSz cx="8229600" cy="14630400"/>
  <p:embeddedFontLst>
    <p:embeddedFont>
      <p:font typeface="Roboto Slab"/>
      <p:regular r:id="rId16"/>
      <p:bold r:id="rId17"/>
    </p:embeddedFon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Slab-bold.fntdata"/><Relationship Id="rId16" Type="http://schemas.openxmlformats.org/officeDocument/2006/relationships/font" Target="fonts/RobotoSlab-regular.fntdata"/><Relationship Id="rId5" Type="http://schemas.openxmlformats.org/officeDocument/2006/relationships/slide" Target="slides/slide1.xml"/><Relationship Id="rId19" Type="http://schemas.openxmlformats.org/officeDocument/2006/relationships/font" Target="fonts/Roboto-bold.fntdata"/><Relationship Id="rId6" Type="http://schemas.openxmlformats.org/officeDocument/2006/relationships/slide" Target="slides/slide2.xml"/><Relationship Id="rId18" Type="http://schemas.openxmlformats.org/officeDocument/2006/relationships/font" Target="fonts/Robot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27.png"/><Relationship Id="rId7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Relationship Id="rId5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24.png"/><Relationship Id="rId6" Type="http://schemas.openxmlformats.org/officeDocument/2006/relationships/image" Target="../media/image28.png"/><Relationship Id="rId7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9" name="Google Shape;4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4"/>
          <p:cNvSpPr/>
          <p:nvPr/>
        </p:nvSpPr>
        <p:spPr>
          <a:xfrm>
            <a:off x="793790" y="2869525"/>
            <a:ext cx="7556421" cy="1240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3900"/>
              <a:buFont typeface="Roboto Slab"/>
              <a:buNone/>
            </a:pPr>
            <a:r>
              <a:rPr b="0" i="0" lang="en-US" sz="3900" u="none" cap="none" strike="noStrik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Azure y Servicios de IA en la Nube</a:t>
            </a:r>
            <a:endParaRPr b="0" i="0" sz="3900" u="none" cap="none" strike="noStrike"/>
          </a:p>
        </p:txBody>
      </p:sp>
      <p:sp>
        <p:nvSpPr>
          <p:cNvPr id="51" name="Google Shape;51;p14"/>
          <p:cNvSpPr/>
          <p:nvPr/>
        </p:nvSpPr>
        <p:spPr>
          <a:xfrm>
            <a:off x="793790" y="4407337"/>
            <a:ext cx="7556421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Guía completa para docentes y alumnos: desde los fundamentos del cloud computing hasta la implementación práctica de servicios de inteligencia artificial con Microsoft Azure.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7" name="Google Shape;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/>
          <p:nvPr/>
        </p:nvSpPr>
        <p:spPr>
          <a:xfrm>
            <a:off x="680442" y="1392555"/>
            <a:ext cx="7783116" cy="10632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57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3300"/>
              <a:buFont typeface="Roboto Slab"/>
              <a:buNone/>
            </a:pPr>
            <a:r>
              <a:rPr b="0" i="0" lang="en-US" sz="3300" u="none" cap="none" strike="noStrik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¿Qué es Azure y qué significa trabajar en la nube?</a:t>
            </a:r>
            <a:endParaRPr b="0" i="0" sz="3300" u="none" cap="none" strike="noStrike"/>
          </a:p>
        </p:txBody>
      </p:sp>
      <p:sp>
        <p:nvSpPr>
          <p:cNvPr id="59" name="Google Shape;59;p15"/>
          <p:cNvSpPr/>
          <p:nvPr/>
        </p:nvSpPr>
        <p:spPr>
          <a:xfrm>
            <a:off x="680442" y="2674501"/>
            <a:ext cx="7783116" cy="758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Azure es la plataforma cloud de Microsoft. En lugar de comprar e instalar servidores, bases de datos y servicios de IA, se consumen recursos desde centros de datos gestionados, activando servicios bajo demanda y pagando por uso o capacidad reservada.</a:t>
            </a:r>
            <a:endParaRPr b="0" i="0" sz="1300" u="none" cap="none" strike="noStrike"/>
          </a:p>
        </p:txBody>
      </p:sp>
      <p:sp>
        <p:nvSpPr>
          <p:cNvPr id="60" name="Google Shape;60;p15"/>
          <p:cNvSpPr/>
          <p:nvPr/>
        </p:nvSpPr>
        <p:spPr>
          <a:xfrm>
            <a:off x="680442" y="3596759"/>
            <a:ext cx="3818692" cy="1854756"/>
          </a:xfrm>
          <a:prstGeom prst="roundRect">
            <a:avLst>
              <a:gd fmla="val 1376" name="adj"/>
            </a:avLst>
          </a:prstGeom>
          <a:solidFill>
            <a:srgbClr val="3F46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463" y="3766780"/>
            <a:ext cx="510302" cy="5103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2" name="Google Shape;6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0838" y="3907036"/>
            <a:ext cx="229553" cy="229552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5"/>
          <p:cNvSpPr/>
          <p:nvPr/>
        </p:nvSpPr>
        <p:spPr>
          <a:xfrm>
            <a:off x="850463" y="4422815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650"/>
              <a:buFont typeface="Roboto Slab"/>
              <a:buNone/>
            </a:pPr>
            <a:r>
              <a:rPr b="0" i="0" lang="en-US" sz="16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IaaS</a:t>
            </a:r>
            <a:endParaRPr b="0" i="0" sz="1650" u="none" cap="none" strike="noStrike"/>
          </a:p>
        </p:txBody>
      </p:sp>
      <p:sp>
        <p:nvSpPr>
          <p:cNvPr id="64" name="Google Shape;64;p15"/>
          <p:cNvSpPr/>
          <p:nvPr/>
        </p:nvSpPr>
        <p:spPr>
          <a:xfrm>
            <a:off x="850463" y="4775954"/>
            <a:ext cx="3478649" cy="505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Infraestructura como servicio: máquinas virtuales, redes, discos.</a:t>
            </a:r>
            <a:endParaRPr b="0" i="0" sz="1300" u="none" cap="none" strike="noStrike"/>
          </a:p>
        </p:txBody>
      </p:sp>
      <p:sp>
        <p:nvSpPr>
          <p:cNvPr id="65" name="Google Shape;65;p15"/>
          <p:cNvSpPr/>
          <p:nvPr/>
        </p:nvSpPr>
        <p:spPr>
          <a:xfrm>
            <a:off x="4644866" y="3596759"/>
            <a:ext cx="3818692" cy="1854756"/>
          </a:xfrm>
          <a:prstGeom prst="roundRect">
            <a:avLst>
              <a:gd fmla="val 1376" name="adj"/>
            </a:avLst>
          </a:prstGeom>
          <a:solidFill>
            <a:srgbClr val="3F46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14888" y="3766780"/>
            <a:ext cx="510302" cy="5103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7" name="Google Shape;6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55262" y="3907036"/>
            <a:ext cx="229553" cy="22955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/>
          <p:nvPr/>
        </p:nvSpPr>
        <p:spPr>
          <a:xfrm>
            <a:off x="4814888" y="4422815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650"/>
              <a:buFont typeface="Roboto Slab"/>
              <a:buNone/>
            </a:pPr>
            <a:r>
              <a:rPr b="0" i="0" lang="en-US" sz="16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PaaS</a:t>
            </a:r>
            <a:endParaRPr b="0" i="0" sz="1650" u="none" cap="none" strike="noStrike"/>
          </a:p>
        </p:txBody>
      </p:sp>
      <p:sp>
        <p:nvSpPr>
          <p:cNvPr id="69" name="Google Shape;69;p15"/>
          <p:cNvSpPr/>
          <p:nvPr/>
        </p:nvSpPr>
        <p:spPr>
          <a:xfrm>
            <a:off x="4814888" y="4775954"/>
            <a:ext cx="3478649" cy="5055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Plataforma como servicio: bases de datos, colas, App Services, endpoints gestionados.</a:t>
            </a:r>
            <a:endParaRPr b="0" i="0" sz="1300" u="none" cap="none" strike="noStrike"/>
          </a:p>
        </p:txBody>
      </p:sp>
      <p:sp>
        <p:nvSpPr>
          <p:cNvPr id="70" name="Google Shape;70;p15"/>
          <p:cNvSpPr/>
          <p:nvPr/>
        </p:nvSpPr>
        <p:spPr>
          <a:xfrm>
            <a:off x="680442" y="5597247"/>
            <a:ext cx="7783116" cy="1601986"/>
          </a:xfrm>
          <a:prstGeom prst="roundRect">
            <a:avLst>
              <a:gd fmla="val 1593" name="adj"/>
            </a:avLst>
          </a:prstGeom>
          <a:solidFill>
            <a:srgbClr val="3F46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" name="Google Shape;7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0463" y="5767268"/>
            <a:ext cx="510302" cy="51030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72" name="Google Shape;7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90838" y="5907524"/>
            <a:ext cx="229553" cy="22955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/>
          <p:nvPr/>
        </p:nvSpPr>
        <p:spPr>
          <a:xfrm>
            <a:off x="850463" y="6423303"/>
            <a:ext cx="2126456" cy="2657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650"/>
              <a:buFont typeface="Roboto Slab"/>
              <a:buNone/>
            </a:pPr>
            <a:r>
              <a:rPr b="0" i="0" lang="en-US" sz="16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SaaS</a:t>
            </a:r>
            <a:endParaRPr b="0" i="0" sz="1650" u="none" cap="none" strike="noStrike"/>
          </a:p>
        </p:txBody>
      </p:sp>
      <p:sp>
        <p:nvSpPr>
          <p:cNvPr id="74" name="Google Shape;74;p15"/>
          <p:cNvSpPr/>
          <p:nvPr/>
        </p:nvSpPr>
        <p:spPr>
          <a:xfrm>
            <a:off x="850463" y="6776442"/>
            <a:ext cx="7443073" cy="252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00"/>
              <a:buFont typeface="Roboto"/>
              <a:buNone/>
            </a:pPr>
            <a:r>
              <a:rPr b="0" i="0" lang="en-US" sz="13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Software listo para usar. Azure combina las tres capas, destacando el enfoque PaaS.</a:t>
            </a:r>
            <a:endParaRPr b="0" i="0" sz="130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/>
          <p:nvPr/>
        </p:nvSpPr>
        <p:spPr>
          <a:xfrm>
            <a:off x="793790" y="1039416"/>
            <a:ext cx="13042821" cy="1240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3900"/>
              <a:buFont typeface="Roboto Slab"/>
              <a:buNone/>
            </a:pPr>
            <a:r>
              <a:rPr b="0" i="0" lang="en-US" sz="3900" u="none" cap="none" strike="noStrik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Cloud vs Local: Beneficios, Riesgos y Criterios de Decisión</a:t>
            </a:r>
            <a:endParaRPr b="0" i="0" sz="3900" u="none" cap="none" strike="noStrike"/>
          </a:p>
        </p:txBody>
      </p:sp>
      <p:sp>
        <p:nvSpPr>
          <p:cNvPr id="81" name="Google Shape;81;p16"/>
          <p:cNvSpPr/>
          <p:nvPr/>
        </p:nvSpPr>
        <p:spPr>
          <a:xfrm>
            <a:off x="650915" y="2577227"/>
            <a:ext cx="6565106" cy="3681293"/>
          </a:xfrm>
          <a:prstGeom prst="roundRect">
            <a:avLst>
              <a:gd fmla="val 809" name="adj"/>
            </a:avLst>
          </a:prstGeom>
          <a:solidFill>
            <a:srgbClr val="66A8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849276" y="2775675"/>
            <a:ext cx="43254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Roboto Slab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☁️ Beneficios de la nube</a:t>
            </a:r>
            <a:endParaRPr b="0" i="0" sz="1950" u="none" cap="none" strike="noStrike"/>
          </a:p>
        </p:txBody>
      </p:sp>
      <p:sp>
        <p:nvSpPr>
          <p:cNvPr id="83" name="Google Shape;83;p16"/>
          <p:cNvSpPr/>
          <p:nvPr/>
        </p:nvSpPr>
        <p:spPr>
          <a:xfrm>
            <a:off x="849273" y="3291721"/>
            <a:ext cx="6168390" cy="1091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Recursos en minutos, escalado CPU/GPU bajo demanda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Integración de servicios (IA, seguridad, monitorización)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Mantenimiento de hardware y parches a cargo del proveedor</a:t>
            </a:r>
            <a:endParaRPr b="0" i="0" sz="1550" u="none" cap="none" strike="noStrike"/>
          </a:p>
        </p:txBody>
      </p:sp>
      <p:sp>
        <p:nvSpPr>
          <p:cNvPr id="84" name="Google Shape;84;p16"/>
          <p:cNvSpPr/>
          <p:nvPr/>
        </p:nvSpPr>
        <p:spPr>
          <a:xfrm>
            <a:off x="849276" y="4581500"/>
            <a:ext cx="5971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Roboto Slab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⚠️ Inconvenientes de la nube</a:t>
            </a:r>
            <a:endParaRPr b="0" i="0" sz="1950" u="none" cap="none" strike="noStrike"/>
          </a:p>
        </p:txBody>
      </p:sp>
      <p:sp>
        <p:nvSpPr>
          <p:cNvPr id="85" name="Google Shape;85;p16"/>
          <p:cNvSpPr/>
          <p:nvPr/>
        </p:nvSpPr>
        <p:spPr>
          <a:xfrm>
            <a:off x="849273" y="5097661"/>
            <a:ext cx="6168390" cy="1091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Costes variables sin control de consumo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Dependencia del proveedor (lock-in)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Latencias de red, límites por región/cuota</a:t>
            </a:r>
            <a:endParaRPr b="0" i="0" sz="1550" u="none" cap="none" strike="noStrike"/>
          </a:p>
        </p:txBody>
      </p:sp>
      <p:sp>
        <p:nvSpPr>
          <p:cNvPr id="86" name="Google Shape;86;p16"/>
          <p:cNvSpPr/>
          <p:nvPr/>
        </p:nvSpPr>
        <p:spPr>
          <a:xfrm>
            <a:off x="7564875" y="2775599"/>
            <a:ext cx="32832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Roboto Slab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🏢</a:t>
            </a:r>
            <a:r>
              <a:rPr b="0" i="0" lang="en-US" sz="1950" u="none" cap="none" strike="noStrik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 Beneficios de local</a:t>
            </a:r>
            <a:endParaRPr b="0" i="0" sz="1950" u="none" cap="none" strike="noStrike"/>
          </a:p>
        </p:txBody>
      </p:sp>
      <p:sp>
        <p:nvSpPr>
          <p:cNvPr id="87" name="Google Shape;87;p16"/>
          <p:cNvSpPr/>
          <p:nvPr/>
        </p:nvSpPr>
        <p:spPr>
          <a:xfrm>
            <a:off x="7564874" y="3291721"/>
            <a:ext cx="6279356" cy="1091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Menor coste recurrente con hardware amortizado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Mayor control físico, sin dependencia de Internet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Datos y modelos dentro de red interna cerrada</a:t>
            </a:r>
            <a:endParaRPr b="0" i="0" sz="1550" u="none" cap="none" strike="noStrike"/>
          </a:p>
        </p:txBody>
      </p:sp>
      <p:sp>
        <p:nvSpPr>
          <p:cNvPr id="88" name="Google Shape;88;p16"/>
          <p:cNvSpPr/>
          <p:nvPr/>
        </p:nvSpPr>
        <p:spPr>
          <a:xfrm>
            <a:off x="7564875" y="4581500"/>
            <a:ext cx="4380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Roboto Slab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⚠️</a:t>
            </a:r>
            <a:r>
              <a:rPr b="0" i="0" lang="en-US" sz="1950" u="none" cap="none" strike="noStrik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 Inconvenientes de local</a:t>
            </a:r>
            <a:endParaRPr b="0" i="0" sz="1950" u="none" cap="none" strike="noStrike"/>
          </a:p>
        </p:txBody>
      </p:sp>
      <p:sp>
        <p:nvSpPr>
          <p:cNvPr id="89" name="Google Shape;89;p16"/>
          <p:cNvSpPr/>
          <p:nvPr/>
        </p:nvSpPr>
        <p:spPr>
          <a:xfrm>
            <a:off x="7564874" y="5097661"/>
            <a:ext cx="6279356" cy="10914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Puesta en marcha lenta, administración y parcheo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Escalado limitado, dificultad para GPU potentes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Seguridad perimetral y continuidad del servicio</a:t>
            </a:r>
            <a:endParaRPr b="0" i="0" sz="1550" u="none" cap="none" strike="noStrike"/>
          </a:p>
        </p:txBody>
      </p:sp>
      <p:sp>
        <p:nvSpPr>
          <p:cNvPr id="90" name="Google Shape;90;p16"/>
          <p:cNvSpPr/>
          <p:nvPr/>
        </p:nvSpPr>
        <p:spPr>
          <a:xfrm>
            <a:off x="793790" y="6481763"/>
            <a:ext cx="13042821" cy="1160740"/>
          </a:xfrm>
          <a:prstGeom prst="roundRect">
            <a:avLst>
              <a:gd fmla="val 2565" name="adj"/>
            </a:avLst>
          </a:prstGeom>
          <a:solidFill>
            <a:srgbClr val="08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148" y="6777038"/>
            <a:ext cx="248007" cy="19835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/>
          <p:nvPr/>
        </p:nvSpPr>
        <p:spPr>
          <a:xfrm>
            <a:off x="1438513" y="6729651"/>
            <a:ext cx="12199739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Roboto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Regla:</a:t>
            </a:r>
            <a:r>
              <a:rPr b="0" i="0" lang="en-US" sz="1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la decisión se toma por criterios — datos, latencia, coste, escalabilidad, competencias del equipo, cumplimiento y mantenimiento. Lo más frecuente en empresa real es un </a:t>
            </a:r>
            <a:r>
              <a:rPr b="1" i="0" lang="en-US" sz="1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diseño híbrido</a:t>
            </a:r>
            <a:r>
              <a:rPr b="0" i="0" lang="en-US" sz="1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/>
          <p:nvPr/>
        </p:nvSpPr>
        <p:spPr>
          <a:xfrm>
            <a:off x="793790" y="2084427"/>
            <a:ext cx="10378202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3900"/>
              <a:buFont typeface="Roboto Slab"/>
              <a:buNone/>
            </a:pPr>
            <a:r>
              <a:rPr b="0" i="0" lang="en-US" sz="3900" u="none" cap="none" strike="noStrik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Arquitecturas Típicas: Cloud, Local e Híbrida</a:t>
            </a:r>
            <a:endParaRPr b="0" i="0" sz="3900" u="none" cap="none" strike="noStrike"/>
          </a:p>
        </p:txBody>
      </p:sp>
      <p:sp>
        <p:nvSpPr>
          <p:cNvPr id="99" name="Google Shape;99;p17"/>
          <p:cNvSpPr/>
          <p:nvPr/>
        </p:nvSpPr>
        <p:spPr>
          <a:xfrm>
            <a:off x="793790" y="3002161"/>
            <a:ext cx="4215289" cy="3054668"/>
          </a:xfrm>
          <a:prstGeom prst="roundRect">
            <a:avLst>
              <a:gd fmla="val 975" name="adj"/>
            </a:avLst>
          </a:prstGeom>
          <a:solidFill>
            <a:srgbClr val="202733"/>
          </a:solidFill>
          <a:ln cap="flat" cmpd="sng" w="22850">
            <a:solidFill>
              <a:srgbClr val="585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816650" y="3025021"/>
            <a:ext cx="4169569" cy="595313"/>
          </a:xfrm>
          <a:prstGeom prst="roundRect">
            <a:avLst>
              <a:gd fmla="val 393" name="adj"/>
            </a:avLst>
          </a:prstGeom>
          <a:solidFill>
            <a:srgbClr val="3F46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7"/>
          <p:cNvSpPr/>
          <p:nvPr/>
        </p:nvSpPr>
        <p:spPr>
          <a:xfrm>
            <a:off x="2752606" y="3136583"/>
            <a:ext cx="297656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300"/>
              <a:buFont typeface="Roboto Slab"/>
              <a:buNone/>
            </a:pPr>
            <a:r>
              <a:rPr b="0" i="0" lang="en-US" sz="230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b="0" i="0" sz="2300" u="none" cap="none" strike="noStrike"/>
          </a:p>
        </p:txBody>
      </p:sp>
      <p:sp>
        <p:nvSpPr>
          <p:cNvPr id="102" name="Google Shape;102;p17"/>
          <p:cNvSpPr/>
          <p:nvPr/>
        </p:nvSpPr>
        <p:spPr>
          <a:xfrm>
            <a:off x="1015008" y="3818692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950"/>
              <a:buFont typeface="Roboto Slab"/>
              <a:buNone/>
            </a:pPr>
            <a:r>
              <a:rPr b="0" i="0" lang="en-US" sz="19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Cloud</a:t>
            </a:r>
            <a:endParaRPr b="0" i="0" sz="1950" u="none" cap="none" strike="noStrike"/>
          </a:p>
        </p:txBody>
      </p:sp>
      <p:sp>
        <p:nvSpPr>
          <p:cNvPr id="103" name="Google Shape;103;p17"/>
          <p:cNvSpPr/>
          <p:nvPr/>
        </p:nvSpPr>
        <p:spPr>
          <a:xfrm>
            <a:off x="1015008" y="4247912"/>
            <a:ext cx="3772853" cy="15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Cliente → API backend → servicios Azure (OpenAI, Vision, Document Intelligence) → base de datos → monitorización. Cada componente escala de forma independiente.</a:t>
            </a:r>
            <a:endParaRPr b="0" i="0" sz="1550" u="none" cap="none" strike="noStrike"/>
          </a:p>
        </p:txBody>
      </p:sp>
      <p:sp>
        <p:nvSpPr>
          <p:cNvPr id="104" name="Google Shape;104;p17"/>
          <p:cNvSpPr/>
          <p:nvPr/>
        </p:nvSpPr>
        <p:spPr>
          <a:xfrm>
            <a:off x="5207437" y="3002161"/>
            <a:ext cx="4215408" cy="3054668"/>
          </a:xfrm>
          <a:prstGeom prst="roundRect">
            <a:avLst>
              <a:gd fmla="val 975" name="adj"/>
            </a:avLst>
          </a:prstGeom>
          <a:solidFill>
            <a:srgbClr val="202733"/>
          </a:solidFill>
          <a:ln cap="flat" cmpd="sng" w="22850">
            <a:solidFill>
              <a:srgbClr val="585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5230297" y="3025021"/>
            <a:ext cx="4169688" cy="595313"/>
          </a:xfrm>
          <a:prstGeom prst="roundRect">
            <a:avLst>
              <a:gd fmla="val 393" name="adj"/>
            </a:avLst>
          </a:prstGeom>
          <a:solidFill>
            <a:srgbClr val="3F46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7166253" y="3136583"/>
            <a:ext cx="297656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300"/>
              <a:buFont typeface="Roboto Slab"/>
              <a:buNone/>
            </a:pPr>
            <a:r>
              <a:rPr b="0" i="0" lang="en-US" sz="230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b="0" i="0" sz="2300" u="none" cap="none" strike="noStrike"/>
          </a:p>
        </p:txBody>
      </p:sp>
      <p:sp>
        <p:nvSpPr>
          <p:cNvPr id="107" name="Google Shape;107;p17"/>
          <p:cNvSpPr/>
          <p:nvPr/>
        </p:nvSpPr>
        <p:spPr>
          <a:xfrm>
            <a:off x="5428655" y="3818692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950"/>
              <a:buFont typeface="Roboto Slab"/>
              <a:buNone/>
            </a:pPr>
            <a:r>
              <a:rPr b="0" i="0" lang="en-US" sz="19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Local</a:t>
            </a:r>
            <a:endParaRPr b="0" i="0" sz="1950" u="none" cap="none" strike="noStrike"/>
          </a:p>
        </p:txBody>
      </p:sp>
      <p:sp>
        <p:nvSpPr>
          <p:cNvPr id="108" name="Google Shape;108;p17"/>
          <p:cNvSpPr/>
          <p:nvPr/>
        </p:nvSpPr>
        <p:spPr>
          <a:xfrm>
            <a:off x="5428655" y="4247912"/>
            <a:ext cx="3772972" cy="15876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Cliente → aplicación interna → servidor local (API, BD, modelos, OCR, almacenamiento). Frecuente en pymes con software heredado o acceso restringido.</a:t>
            </a:r>
            <a:endParaRPr b="0" i="0" sz="1550" u="none" cap="none" strike="noStrike"/>
          </a:p>
        </p:txBody>
      </p:sp>
      <p:sp>
        <p:nvSpPr>
          <p:cNvPr id="109" name="Google Shape;109;p17"/>
          <p:cNvSpPr/>
          <p:nvPr/>
        </p:nvSpPr>
        <p:spPr>
          <a:xfrm>
            <a:off x="9621203" y="3002161"/>
            <a:ext cx="4215289" cy="3054668"/>
          </a:xfrm>
          <a:prstGeom prst="roundRect">
            <a:avLst>
              <a:gd fmla="val 975" name="adj"/>
            </a:avLst>
          </a:prstGeom>
          <a:solidFill>
            <a:srgbClr val="202733"/>
          </a:solidFill>
          <a:ln cap="flat" cmpd="sng" w="22850">
            <a:solidFill>
              <a:srgbClr val="585F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9644063" y="3025021"/>
            <a:ext cx="4169569" cy="595313"/>
          </a:xfrm>
          <a:prstGeom prst="roundRect">
            <a:avLst>
              <a:gd fmla="val 393" name="adj"/>
            </a:avLst>
          </a:prstGeom>
          <a:solidFill>
            <a:srgbClr val="3F46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11580019" y="3136583"/>
            <a:ext cx="297656" cy="372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2300"/>
              <a:buFont typeface="Roboto Slab"/>
              <a:buNone/>
            </a:pPr>
            <a:r>
              <a:rPr b="0" i="0" lang="en-US" sz="230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b="0" i="0" sz="2300" u="none" cap="none" strike="noStrike"/>
          </a:p>
        </p:txBody>
      </p:sp>
      <p:sp>
        <p:nvSpPr>
          <p:cNvPr id="112" name="Google Shape;112;p17"/>
          <p:cNvSpPr/>
          <p:nvPr/>
        </p:nvSpPr>
        <p:spPr>
          <a:xfrm>
            <a:off x="9842421" y="3818692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950"/>
              <a:buFont typeface="Roboto Slab"/>
              <a:buNone/>
            </a:pPr>
            <a:r>
              <a:rPr b="0" i="0" lang="en-US" sz="19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Híbrida</a:t>
            </a:r>
            <a:endParaRPr b="0" i="0" sz="1950" u="none" cap="none" strike="noStrike"/>
          </a:p>
        </p:txBody>
      </p:sp>
      <p:sp>
        <p:nvSpPr>
          <p:cNvPr id="113" name="Google Shape;113;p17"/>
          <p:cNvSpPr/>
          <p:nvPr/>
        </p:nvSpPr>
        <p:spPr>
          <a:xfrm>
            <a:off x="9842421" y="4247912"/>
            <a:ext cx="3772853" cy="12701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Procesamiento local (ERP, BD sensibles) + servicios cloud para tareas de alto valor: OCR de facturas, clasificación documental, generación de texto, visión.</a:t>
            </a:r>
            <a:endParaRPr b="0" i="0" sz="1550" u="none" cap="none" strike="noStrike"/>
          </a:p>
        </p:txBody>
      </p:sp>
      <p:sp>
        <p:nvSpPr>
          <p:cNvPr id="114" name="Google Shape;114;p17"/>
          <p:cNvSpPr/>
          <p:nvPr/>
        </p:nvSpPr>
        <p:spPr>
          <a:xfrm>
            <a:off x="793790" y="6280071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SzPts val="1550"/>
              <a:buFont typeface="Arial"/>
              <a:buNone/>
            </a:pPr>
            <a:r>
              <a:t/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/>
          <p:nvPr/>
        </p:nvSpPr>
        <p:spPr>
          <a:xfrm>
            <a:off x="793790" y="1569839"/>
            <a:ext cx="5821680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3900"/>
              <a:buFont typeface="Roboto Slab"/>
              <a:buNone/>
            </a:pPr>
            <a:r>
              <a:rPr b="0" i="0" lang="en-US" sz="3900" u="none" cap="none" strike="noStrik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Azure Machine Learning</a:t>
            </a:r>
            <a:endParaRPr b="0" i="0" sz="3900" u="none" cap="none" strike="noStrike"/>
          </a:p>
        </p:txBody>
      </p:sp>
      <p:sp>
        <p:nvSpPr>
          <p:cNvPr id="121" name="Google Shape;121;p18"/>
          <p:cNvSpPr/>
          <p:nvPr/>
        </p:nvSpPr>
        <p:spPr>
          <a:xfrm>
            <a:off x="793790" y="2487573"/>
            <a:ext cx="13042821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Azure ML es un servicio cloud para gestionar el </a:t>
            </a:r>
            <a:r>
              <a:rPr b="1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ciclo de vida completo</a:t>
            </a: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de proyectos de ML: preparación, entrenamiento, registro de modelos, despliegue, monitorización y MLOps. También soporta flujos de IA generativa y LLM con catálogo de modelos y prompt flow.</a:t>
            </a:r>
            <a:endParaRPr b="0" i="0" sz="1550" u="none" cap="none" strike="noStrike"/>
          </a:p>
        </p:txBody>
      </p:sp>
      <p:sp>
        <p:nvSpPr>
          <p:cNvPr id="122" name="Google Shape;122;p18"/>
          <p:cNvSpPr/>
          <p:nvPr/>
        </p:nvSpPr>
        <p:spPr>
          <a:xfrm>
            <a:off x="793790" y="3345894"/>
            <a:ext cx="198358" cy="2480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 Slab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01</a:t>
            </a:r>
            <a:endParaRPr b="0" i="0" sz="1550" u="none" cap="none" strike="noStrike"/>
          </a:p>
        </p:txBody>
      </p:sp>
      <p:pic>
        <p:nvPicPr>
          <p:cNvPr descr="preencoded.png" id="123" name="Google Shape;1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660219"/>
            <a:ext cx="4215289" cy="2286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/>
          <p:nvPr/>
        </p:nvSpPr>
        <p:spPr>
          <a:xfrm>
            <a:off x="793790" y="3805118"/>
            <a:ext cx="3947160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950"/>
              <a:buFont typeface="Roboto Slab"/>
              <a:buNone/>
            </a:pPr>
            <a:r>
              <a:rPr b="0" i="0" lang="en-US" sz="19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Crear workspace y conectar datos</a:t>
            </a:r>
            <a:endParaRPr b="0" i="0" sz="1950" u="none" cap="none" strike="noStrike"/>
          </a:p>
        </p:txBody>
      </p:sp>
      <p:sp>
        <p:nvSpPr>
          <p:cNvPr id="125" name="Google Shape;125;p18"/>
          <p:cNvSpPr/>
          <p:nvPr/>
        </p:nvSpPr>
        <p:spPr>
          <a:xfrm>
            <a:off x="793790" y="4234339"/>
            <a:ext cx="4215289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Blob, data lake u otros almacenes seguros.</a:t>
            </a:r>
            <a:endParaRPr b="0" i="0" sz="1550" u="none" cap="none" strike="noStrike"/>
          </a:p>
        </p:txBody>
      </p:sp>
      <p:sp>
        <p:nvSpPr>
          <p:cNvPr id="126" name="Google Shape;126;p18"/>
          <p:cNvSpPr/>
          <p:nvPr/>
        </p:nvSpPr>
        <p:spPr>
          <a:xfrm>
            <a:off x="5207388" y="3345899"/>
            <a:ext cx="8028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 Slab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02</a:t>
            </a:r>
            <a:endParaRPr b="0" i="0" sz="1550" u="none" cap="none" strike="noStrike"/>
          </a:p>
        </p:txBody>
      </p:sp>
      <p:pic>
        <p:nvPicPr>
          <p:cNvPr descr="preencoded.png" id="127" name="Google Shape;1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7437" y="3660219"/>
            <a:ext cx="4215408" cy="2286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>
            <a:off x="5207437" y="3805118"/>
            <a:ext cx="3518059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950"/>
              <a:buFont typeface="Roboto Slab"/>
              <a:buNone/>
            </a:pPr>
            <a:r>
              <a:rPr b="0" i="0" lang="en-US" sz="19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Preparar entorno y lanzar jobs</a:t>
            </a:r>
            <a:endParaRPr b="0" i="0" sz="1950" u="none" cap="none" strike="noStrike"/>
          </a:p>
        </p:txBody>
      </p:sp>
      <p:sp>
        <p:nvSpPr>
          <p:cNvPr id="129" name="Google Shape;129;p18"/>
          <p:cNvSpPr/>
          <p:nvPr/>
        </p:nvSpPr>
        <p:spPr>
          <a:xfrm>
            <a:off x="5207437" y="4234339"/>
            <a:ext cx="4215408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Dependencias, CPU/GPU, AutoML o notebooks.</a:t>
            </a:r>
            <a:endParaRPr b="0" i="0" sz="1550" u="none" cap="none" strike="noStrike"/>
          </a:p>
        </p:txBody>
      </p:sp>
      <p:sp>
        <p:nvSpPr>
          <p:cNvPr id="130" name="Google Shape;130;p18"/>
          <p:cNvSpPr/>
          <p:nvPr/>
        </p:nvSpPr>
        <p:spPr>
          <a:xfrm>
            <a:off x="9621195" y="3345900"/>
            <a:ext cx="5163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 Slab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03</a:t>
            </a:r>
            <a:endParaRPr b="0" i="0" sz="1550" u="none" cap="none" strike="noStrike"/>
          </a:p>
        </p:txBody>
      </p:sp>
      <p:pic>
        <p:nvPicPr>
          <p:cNvPr descr="preencoded.png" id="131" name="Google Shape;13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1203" y="3660219"/>
            <a:ext cx="4215289" cy="22860"/>
          </a:xfrm>
          <a:prstGeom prst="rect">
            <a:avLst/>
          </a:prstGeom>
          <a:noFill/>
          <a:ln cap="flat" cmpd="sng" w="19050">
            <a:solidFill>
              <a:srgbClr val="66A8EE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2" name="Google Shape;132;p18"/>
          <p:cNvSpPr/>
          <p:nvPr/>
        </p:nvSpPr>
        <p:spPr>
          <a:xfrm>
            <a:off x="9621203" y="3805118"/>
            <a:ext cx="3111103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950"/>
              <a:buFont typeface="Roboto Slab"/>
              <a:buNone/>
            </a:pPr>
            <a:r>
              <a:rPr b="0" i="0" lang="en-US" sz="19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Evaluar y registrar modelo</a:t>
            </a:r>
            <a:endParaRPr b="0" i="0" sz="1950" u="none" cap="none" strike="noStrike"/>
          </a:p>
        </p:txBody>
      </p:sp>
      <p:sp>
        <p:nvSpPr>
          <p:cNvPr id="133" name="Google Shape;133;p18"/>
          <p:cNvSpPr/>
          <p:nvPr/>
        </p:nvSpPr>
        <p:spPr>
          <a:xfrm>
            <a:off x="9621203" y="4234339"/>
            <a:ext cx="4215289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Comparar métricas, versionar experimentos.</a:t>
            </a:r>
            <a:endParaRPr b="0" i="0" sz="1550" u="none" cap="none" strike="noStrike"/>
          </a:p>
        </p:txBody>
      </p:sp>
      <p:sp>
        <p:nvSpPr>
          <p:cNvPr id="134" name="Google Shape;134;p18"/>
          <p:cNvSpPr/>
          <p:nvPr/>
        </p:nvSpPr>
        <p:spPr>
          <a:xfrm>
            <a:off x="793864" y="4899075"/>
            <a:ext cx="1472400" cy="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 Slab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04</a:t>
            </a:r>
            <a:endParaRPr b="0" i="0" sz="1550" u="none" cap="none" strike="noStrike"/>
          </a:p>
        </p:txBody>
      </p:sp>
      <p:pic>
        <p:nvPicPr>
          <p:cNvPr descr="preencoded.png" id="135" name="Google Shape;13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5193506"/>
            <a:ext cx="6422112" cy="2286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/>
          <p:nvPr/>
        </p:nvSpPr>
        <p:spPr>
          <a:xfrm>
            <a:off x="793790" y="5358289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950"/>
              <a:buFont typeface="Roboto Slab"/>
              <a:buNone/>
            </a:pPr>
            <a:r>
              <a:rPr b="0" i="0" lang="en-US" sz="19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Desplegar endpoint</a:t>
            </a:r>
            <a:endParaRPr b="0" i="0" sz="1950" u="none" cap="none" strike="noStrike"/>
          </a:p>
        </p:txBody>
      </p:sp>
      <p:sp>
        <p:nvSpPr>
          <p:cNvPr id="137" name="Google Shape;137;p18"/>
          <p:cNvSpPr/>
          <p:nvPr/>
        </p:nvSpPr>
        <p:spPr>
          <a:xfrm>
            <a:off x="793790" y="5787509"/>
            <a:ext cx="6422112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Online o batch, con monitorización continua.</a:t>
            </a:r>
            <a:endParaRPr b="0" i="0" sz="1550" u="none" cap="none" strike="noStrike"/>
          </a:p>
        </p:txBody>
      </p:sp>
      <p:sp>
        <p:nvSpPr>
          <p:cNvPr id="138" name="Google Shape;138;p18"/>
          <p:cNvSpPr/>
          <p:nvPr/>
        </p:nvSpPr>
        <p:spPr>
          <a:xfrm>
            <a:off x="7414178" y="4899071"/>
            <a:ext cx="1634400" cy="1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 Slab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05</a:t>
            </a:r>
            <a:endParaRPr b="0" i="0" sz="1550" u="none" cap="none" strike="noStrike"/>
          </a:p>
        </p:txBody>
      </p:sp>
      <p:pic>
        <p:nvPicPr>
          <p:cNvPr descr="preencoded.png" id="139" name="Google Shape;13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14260" y="5193506"/>
            <a:ext cx="6422231" cy="2286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/>
          <p:nvPr/>
        </p:nvSpPr>
        <p:spPr>
          <a:xfrm>
            <a:off x="7414260" y="5358289"/>
            <a:ext cx="3041452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950"/>
              <a:buFont typeface="Roboto Slab"/>
              <a:buNone/>
            </a:pPr>
            <a:r>
              <a:rPr b="0" i="0" lang="en-US" sz="19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MLOps y reentrenamiento</a:t>
            </a:r>
            <a:endParaRPr b="0" i="0" sz="1950" u="none" cap="none" strike="noStrike"/>
          </a:p>
        </p:txBody>
      </p:sp>
      <p:sp>
        <p:nvSpPr>
          <p:cNvPr id="141" name="Google Shape;141;p18"/>
          <p:cNvSpPr/>
          <p:nvPr/>
        </p:nvSpPr>
        <p:spPr>
          <a:xfrm>
            <a:off x="7414260" y="5787509"/>
            <a:ext cx="6422231" cy="31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CI/CD, versionado, pipelines automatizados.</a:t>
            </a:r>
            <a:endParaRPr b="0" i="0" sz="1550" u="none" cap="none" strike="noStrike"/>
          </a:p>
        </p:txBody>
      </p:sp>
      <p:sp>
        <p:nvSpPr>
          <p:cNvPr id="142" name="Google Shape;142;p18"/>
          <p:cNvSpPr/>
          <p:nvPr/>
        </p:nvSpPr>
        <p:spPr>
          <a:xfrm>
            <a:off x="793790" y="6477119"/>
            <a:ext cx="13042821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None/>
            </a:pPr>
            <a:r>
              <a:rPr b="1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Componentes clave:</a:t>
            </a: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workspace, compute (instancias/clusters/serverless), datastores, assets versionados (datos, modelos, entornos) y pipelines. </a:t>
            </a:r>
            <a:r>
              <a:rPr b="1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Cuándo preferir local:</a:t>
            </a: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dataset muy sensible, conectividad limitada o infraestructura GPU y MLOps ya madura.</a:t>
            </a:r>
            <a:endParaRPr b="0" i="0" sz="1550" u="none" cap="none" strike="noStrike"/>
          </a:p>
        </p:txBody>
      </p:sp>
      <p:pic>
        <p:nvPicPr>
          <p:cNvPr descr="preencoded.png" id="143" name="Google Shape;14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07491" y="3664418"/>
            <a:ext cx="4215290" cy="22860"/>
          </a:xfrm>
          <a:prstGeom prst="rect">
            <a:avLst/>
          </a:prstGeom>
          <a:noFill/>
          <a:ln cap="flat" cmpd="sng" w="19050">
            <a:solidFill>
              <a:srgbClr val="66A8E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preencoded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667068"/>
            <a:ext cx="4215290" cy="22860"/>
          </a:xfrm>
          <a:prstGeom prst="rect">
            <a:avLst/>
          </a:prstGeom>
          <a:noFill/>
          <a:ln cap="flat" cmpd="sng" w="19050">
            <a:solidFill>
              <a:srgbClr val="66A8E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preencoded.png" id="145" name="Google Shape;1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5216393"/>
            <a:ext cx="4215290" cy="22860"/>
          </a:xfrm>
          <a:prstGeom prst="rect">
            <a:avLst/>
          </a:prstGeom>
          <a:noFill/>
          <a:ln cap="flat" cmpd="sng" w="19050">
            <a:solidFill>
              <a:srgbClr val="66A8E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preencoded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4166" y="5193505"/>
            <a:ext cx="4215290" cy="22860"/>
          </a:xfrm>
          <a:prstGeom prst="rect">
            <a:avLst/>
          </a:prstGeom>
          <a:noFill/>
          <a:ln cap="flat" cmpd="sng" w="19050">
            <a:solidFill>
              <a:srgbClr val="66A8EE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9"/>
          <p:cNvSpPr/>
          <p:nvPr/>
        </p:nvSpPr>
        <p:spPr>
          <a:xfrm>
            <a:off x="793790" y="1911310"/>
            <a:ext cx="7446645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3900"/>
              <a:buFont typeface="Roboto Slab"/>
              <a:buNone/>
            </a:pPr>
            <a:r>
              <a:rPr b="0" i="0" lang="en-US" sz="3900" u="none" cap="none" strike="noStrik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Azure AI Document Intelligence</a:t>
            </a:r>
            <a:endParaRPr b="0" i="0" sz="3900" u="none" cap="none" strike="noStrike"/>
          </a:p>
        </p:txBody>
      </p:sp>
      <p:sp>
        <p:nvSpPr>
          <p:cNvPr id="153" name="Google Shape;153;p19"/>
          <p:cNvSpPr/>
          <p:nvPr/>
        </p:nvSpPr>
        <p:spPr>
          <a:xfrm>
            <a:off x="793790" y="2829044"/>
            <a:ext cx="13042821" cy="6350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Anteriormente conocido como </a:t>
            </a:r>
            <a:r>
              <a:rPr b="1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Form Recognizer</a:t>
            </a: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, este servicio extrae información de documentos (PDF, imágenes, formularios, facturas, recibos, IDs, tablas) mediante OCR y modelos de comprensión documental. Es pieza clave para automatizar procesos administrativos y RPA.</a:t>
            </a:r>
            <a:endParaRPr b="0" i="0" sz="1550" u="none" cap="none" strike="noStrike"/>
          </a:p>
        </p:txBody>
      </p:sp>
      <p:pic>
        <p:nvPicPr>
          <p:cNvPr descr="preencoded.png" id="154" name="Google Shape;1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3687366"/>
            <a:ext cx="919996" cy="919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9"/>
          <p:cNvSpPr/>
          <p:nvPr/>
        </p:nvSpPr>
        <p:spPr>
          <a:xfrm>
            <a:off x="1961793" y="3687366"/>
            <a:ext cx="2815828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950"/>
              <a:buFont typeface="Roboto Slab"/>
              <a:buNone/>
            </a:pPr>
            <a:r>
              <a:rPr b="1" i="0" lang="en-US" sz="18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Modelos preconstruidos</a:t>
            </a:r>
            <a:endParaRPr b="1" i="0" sz="1850" u="none" cap="none" strike="noStrike"/>
          </a:p>
        </p:txBody>
      </p:sp>
      <p:sp>
        <p:nvSpPr>
          <p:cNvPr id="156" name="Google Shape;156;p19"/>
          <p:cNvSpPr/>
          <p:nvPr/>
        </p:nvSpPr>
        <p:spPr>
          <a:xfrm>
            <a:off x="1961793" y="4116586"/>
            <a:ext cx="3014186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Facturas, recibos, documentos comunes listos para usar sin entrenamiento.</a:t>
            </a:r>
            <a:endParaRPr b="0" i="0" sz="1550" u="none" cap="none" strike="noStrike"/>
          </a:p>
        </p:txBody>
      </p:sp>
      <p:pic>
        <p:nvPicPr>
          <p:cNvPr descr="preencoded.png" id="157" name="Google Shape;15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3986" y="3687366"/>
            <a:ext cx="919996" cy="91999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/>
          <p:nvPr/>
        </p:nvSpPr>
        <p:spPr>
          <a:xfrm>
            <a:off x="6391989" y="3687366"/>
            <a:ext cx="2821662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950"/>
              <a:buFont typeface="Roboto Slab"/>
              <a:buNone/>
            </a:pPr>
            <a:r>
              <a:rPr b="1" i="0" lang="en-US" sz="18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Modelos personalizados</a:t>
            </a:r>
            <a:endParaRPr b="1" i="0" sz="1850" u="none" cap="none" strike="noStrike"/>
          </a:p>
        </p:txBody>
      </p:sp>
      <p:sp>
        <p:nvSpPr>
          <p:cNvPr id="159" name="Google Shape;159;p19"/>
          <p:cNvSpPr/>
          <p:nvPr/>
        </p:nvSpPr>
        <p:spPr>
          <a:xfrm>
            <a:off x="6391989" y="4116586"/>
            <a:ext cx="3014305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Entrenados para plantillas propias de empresa, combinables con reglas de negocio.</a:t>
            </a:r>
            <a:endParaRPr b="0" i="0" sz="1550" u="none" cap="none" strike="noStrike"/>
          </a:p>
        </p:txBody>
      </p:sp>
      <p:pic>
        <p:nvPicPr>
          <p:cNvPr descr="preencoded.png" id="160" name="Google Shape;16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54302" y="3687366"/>
            <a:ext cx="919996" cy="91999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/>
          <p:nvPr/>
        </p:nvSpPr>
        <p:spPr>
          <a:xfrm>
            <a:off x="10822305" y="3687366"/>
            <a:ext cx="2480905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950"/>
              <a:buFont typeface="Roboto Slab"/>
              <a:buNone/>
            </a:pPr>
            <a:r>
              <a:rPr b="1" i="0" lang="en-US" sz="18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Salida estructurada</a:t>
            </a:r>
            <a:endParaRPr b="1" i="0" sz="1850" u="none" cap="none" strike="noStrike"/>
          </a:p>
        </p:txBody>
      </p:sp>
      <p:sp>
        <p:nvSpPr>
          <p:cNvPr id="162" name="Google Shape;162;p19"/>
          <p:cNvSpPr/>
          <p:nvPr/>
        </p:nvSpPr>
        <p:spPr>
          <a:xfrm>
            <a:off x="10822305" y="4116586"/>
            <a:ext cx="3014305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JSON con texto, tablas, campos clave-valor y geometría del documento.</a:t>
            </a:r>
            <a:endParaRPr b="0" i="0" sz="1550" u="none" cap="none" strike="noStrike"/>
          </a:p>
        </p:txBody>
      </p:sp>
      <p:sp>
        <p:nvSpPr>
          <p:cNvPr id="163" name="Google Shape;163;p19"/>
          <p:cNvSpPr/>
          <p:nvPr/>
        </p:nvSpPr>
        <p:spPr>
          <a:xfrm>
            <a:off x="793790" y="5292447"/>
            <a:ext cx="13042821" cy="1478280"/>
          </a:xfrm>
          <a:prstGeom prst="roundRect">
            <a:avLst>
              <a:gd fmla="val 2014" name="adj"/>
            </a:avLst>
          </a:prstGeom>
          <a:solidFill>
            <a:srgbClr val="08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4" name="Google Shape;16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92148" y="5587722"/>
            <a:ext cx="248007" cy="198358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/>
          <p:nvPr/>
        </p:nvSpPr>
        <p:spPr>
          <a:xfrm>
            <a:off x="1438513" y="5540335"/>
            <a:ext cx="12199739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Roboto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Ventaja frente a OCR local básico:</a:t>
            </a:r>
            <a:r>
              <a:rPr b="0" i="0" lang="en-US" sz="1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Document Intelligence añade </a:t>
            </a:r>
            <a:r>
              <a:rPr b="0" i="1" lang="en-US" sz="1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entendimiento de estructura</a:t>
            </a:r>
            <a:r>
              <a:rPr b="0" i="0" lang="en-US" sz="1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(tablas, claves/valores, layouts), reduciendo mucho el parsing manual. </a:t>
            </a:r>
            <a:r>
              <a:rPr b="1" i="0" lang="en-US" sz="1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Buena práctica docente:</a:t>
            </a:r>
            <a:r>
              <a:rPr b="0" i="0" lang="en-US" sz="15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no venderlo como "magia" — enseñar tasas de error, validación humana y manejo de documentos de mala calidad.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/>
          <p:nvPr/>
        </p:nvSpPr>
        <p:spPr>
          <a:xfrm>
            <a:off x="2075497" y="951190"/>
            <a:ext cx="3322201" cy="415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2600"/>
              <a:buFont typeface="Roboto Slab"/>
              <a:buNone/>
            </a:pPr>
            <a:r>
              <a:rPr b="0" i="0" lang="en-US" sz="2600" u="none" cap="none" strike="noStrik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Azure OpenAI</a:t>
            </a:r>
            <a:endParaRPr b="0" i="0" sz="2600" u="none" cap="none" strike="noStrike"/>
          </a:p>
        </p:txBody>
      </p:sp>
      <p:sp>
        <p:nvSpPr>
          <p:cNvPr id="172" name="Google Shape;172;p20"/>
          <p:cNvSpPr/>
          <p:nvPr/>
        </p:nvSpPr>
        <p:spPr>
          <a:xfrm>
            <a:off x="2075497" y="1487178"/>
            <a:ext cx="10479300" cy="3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Roboto"/>
              <a:buNone/>
            </a:pPr>
            <a:r>
              <a:rPr b="0" i="0" lang="en-US" sz="11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Permite usar modelos dentro del entorno Azure con seguridad, identidad y operación empresarial. Sirve para construir asistentes, copilots, extracción/generación de texto, clasificación, resumen, razonamiento y flujos multimodales.</a:t>
            </a:r>
            <a:endParaRPr b="0" i="0" sz="1100" u="none" cap="none" strike="noStrike"/>
          </a:p>
        </p:txBody>
      </p:sp>
      <p:pic>
        <p:nvPicPr>
          <p:cNvPr descr="preencoded.png" id="173" name="Google Shape;17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75497" y="1954530"/>
            <a:ext cx="664369" cy="7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/>
          <p:nvPr/>
        </p:nvSpPr>
        <p:spPr>
          <a:xfrm>
            <a:off x="2828806" y="2087404"/>
            <a:ext cx="2606993" cy="207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00"/>
              <a:buFont typeface="Roboto Slab"/>
              <a:buNone/>
            </a:pPr>
            <a:r>
              <a:rPr b="0" i="0" lang="en-US" sz="130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Crear recurso y desplegar modelo</a:t>
            </a:r>
            <a:endParaRPr b="0" i="0" sz="1300" u="none" cap="none" strike="noStrike"/>
          </a:p>
        </p:txBody>
      </p:sp>
      <p:pic>
        <p:nvPicPr>
          <p:cNvPr descr="preencoded.png" id="175" name="Google Shape;1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5497" y="2751773"/>
            <a:ext cx="664369" cy="7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/>
          <p:nvPr/>
        </p:nvSpPr>
        <p:spPr>
          <a:xfrm>
            <a:off x="2828806" y="2884646"/>
            <a:ext cx="1853446" cy="207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00"/>
              <a:buFont typeface="Roboto Slab"/>
              <a:buNone/>
            </a:pPr>
            <a:r>
              <a:rPr b="0" i="0" lang="en-US" sz="130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Autenticar y llamar API</a:t>
            </a:r>
            <a:endParaRPr b="0" i="0" sz="1300" u="none" cap="none" strike="noStrike"/>
          </a:p>
        </p:txBody>
      </p:sp>
      <p:pic>
        <p:nvPicPr>
          <p:cNvPr descr="preencoded.png" id="177" name="Google Shape;17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75497" y="3549015"/>
            <a:ext cx="664369" cy="7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/>
          <p:nvPr/>
        </p:nvSpPr>
        <p:spPr>
          <a:xfrm>
            <a:off x="2828806" y="3681889"/>
            <a:ext cx="1995964" cy="207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00"/>
              <a:buFont typeface="Roboto Slab"/>
              <a:buNone/>
            </a:pPr>
            <a:r>
              <a:rPr b="0" i="0" lang="en-US" sz="130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Aplicar prompts y límites</a:t>
            </a:r>
            <a:endParaRPr b="0" i="0" sz="1300" u="none" cap="none" strike="noStrike"/>
          </a:p>
        </p:txBody>
      </p:sp>
      <p:pic>
        <p:nvPicPr>
          <p:cNvPr descr="preencoded.png" id="179" name="Google Shape;17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75497" y="4346258"/>
            <a:ext cx="664369" cy="7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/>
          <p:nvPr/>
        </p:nvSpPr>
        <p:spPr>
          <a:xfrm>
            <a:off x="2828806" y="4479131"/>
            <a:ext cx="2340293" cy="207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00"/>
              <a:buFont typeface="Roboto Slab"/>
              <a:buNone/>
            </a:pPr>
            <a:r>
              <a:rPr b="0" i="0" lang="en-US" sz="130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Añadir RAG con datos propios</a:t>
            </a:r>
            <a:endParaRPr b="0" i="0" sz="1300" u="none" cap="none" strike="noStrike"/>
          </a:p>
        </p:txBody>
      </p:sp>
      <p:pic>
        <p:nvPicPr>
          <p:cNvPr descr="preencoded.png" id="181" name="Google Shape;18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75497" y="5143500"/>
            <a:ext cx="664369" cy="79724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2828806" y="5276374"/>
            <a:ext cx="1907738" cy="207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00"/>
              <a:buFont typeface="Roboto Slab"/>
              <a:buNone/>
            </a:pPr>
            <a:r>
              <a:rPr b="0" i="0" lang="en-US" sz="130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Registrar trazas y costes</a:t>
            </a:r>
            <a:endParaRPr b="0" i="0" sz="1300" u="none" cap="none" strike="noStrike"/>
          </a:p>
        </p:txBody>
      </p:sp>
      <p:sp>
        <p:nvSpPr>
          <p:cNvPr id="183" name="Google Shape;183;p20"/>
          <p:cNvSpPr/>
          <p:nvPr/>
        </p:nvSpPr>
        <p:spPr>
          <a:xfrm>
            <a:off x="2075497" y="6129695"/>
            <a:ext cx="2124075" cy="207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1300"/>
              <a:buFont typeface="Roboto Slab"/>
              <a:buNone/>
            </a:pPr>
            <a:r>
              <a:rPr b="0" i="0" lang="en-US" sz="1300" u="none" cap="none" strike="noStrik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Elementos imprescindibles</a:t>
            </a:r>
            <a:endParaRPr b="0" i="0" sz="1300" u="none" cap="none" strike="noStrike"/>
          </a:p>
        </p:txBody>
      </p:sp>
      <p:sp>
        <p:nvSpPr>
          <p:cNvPr id="184" name="Google Shape;184;p20"/>
          <p:cNvSpPr/>
          <p:nvPr/>
        </p:nvSpPr>
        <p:spPr>
          <a:xfrm>
            <a:off x="2075497" y="6426160"/>
            <a:ext cx="5077539" cy="802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Roboto"/>
              <a:buNone/>
            </a:pPr>
            <a:r>
              <a:rPr b="1" i="0" lang="en-US" sz="10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Prompting</a:t>
            </a:r>
            <a:r>
              <a:rPr b="0" i="0" lang="en-US" sz="10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y manejo de contexto</a:t>
            </a:r>
            <a:endParaRPr b="0" i="0" sz="1000" u="none" cap="none" strike="noStrike"/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Roboto"/>
              <a:buChar char="•"/>
            </a:pPr>
            <a:r>
              <a:rPr b="0" i="0" lang="en-US" sz="10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Límites de tokens, chunking/embeddings para RAG</a:t>
            </a:r>
            <a:endParaRPr b="0" i="0" sz="1000" u="none" cap="none" strike="noStrike"/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Roboto"/>
              <a:buChar char="•"/>
            </a:pPr>
            <a:r>
              <a:rPr b="0" i="0" lang="en-US" sz="10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Seguridad (PII, filtros), coste por uso</a:t>
            </a:r>
            <a:endParaRPr b="0" i="0" sz="1000" u="none" cap="none" strike="noStrike"/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Roboto"/>
              <a:buChar char="•"/>
            </a:pPr>
            <a:r>
              <a:rPr b="0" i="0" lang="en-US" sz="10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Evaluación continua de respuestas</a:t>
            </a:r>
            <a:endParaRPr b="0" i="0" sz="1000" u="none" cap="none" strike="noStrike"/>
          </a:p>
        </p:txBody>
      </p:sp>
      <p:sp>
        <p:nvSpPr>
          <p:cNvPr id="185" name="Google Shape;185;p20"/>
          <p:cNvSpPr/>
          <p:nvPr/>
        </p:nvSpPr>
        <p:spPr>
          <a:xfrm>
            <a:off x="7484745" y="6129695"/>
            <a:ext cx="1661041" cy="207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1300"/>
              <a:buFont typeface="Roboto Slab"/>
              <a:buNone/>
            </a:pPr>
            <a:r>
              <a:rPr b="0" i="0" lang="en-US" sz="1300" u="none" cap="none" strike="noStrik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Riesgos y límites</a:t>
            </a:r>
            <a:endParaRPr b="0" i="0" sz="1300" u="none" cap="none" strike="noStrike"/>
          </a:p>
        </p:txBody>
      </p:sp>
      <p:sp>
        <p:nvSpPr>
          <p:cNvPr id="186" name="Google Shape;186;p20"/>
          <p:cNvSpPr/>
          <p:nvPr/>
        </p:nvSpPr>
        <p:spPr>
          <a:xfrm>
            <a:off x="7484745" y="6426160"/>
            <a:ext cx="5077539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Roboto"/>
              <a:buChar char="•"/>
            </a:pPr>
            <a:r>
              <a:rPr b="0" i="0" lang="en-US" sz="10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Alucinaciones y respuestas inconsistentes</a:t>
            </a:r>
            <a:endParaRPr b="0" i="0" sz="1000" u="none" cap="none" strike="noStrike"/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Roboto"/>
              <a:buChar char="•"/>
            </a:pPr>
            <a:r>
              <a:rPr b="0" i="0" lang="en-US" sz="10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Sensibilidad al prompt, costes sin control</a:t>
            </a:r>
            <a:endParaRPr b="0" i="0" sz="1000" u="none" cap="none" strike="noStrike"/>
          </a:p>
          <a:p>
            <a:pPr indent="-342900" lvl="0" marL="34290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Roboto"/>
              <a:buChar char="•"/>
            </a:pPr>
            <a:r>
              <a:rPr b="0" i="0" lang="en-US" sz="10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Necesidad de logs, validaciones y guardrails</a:t>
            </a:r>
            <a:endParaRPr b="0" i="0" sz="1000" u="none" cap="none" strike="noStrike"/>
          </a:p>
        </p:txBody>
      </p:sp>
      <p:sp>
        <p:nvSpPr>
          <p:cNvPr id="187" name="Google Shape;187;p20"/>
          <p:cNvSpPr/>
          <p:nvPr/>
        </p:nvSpPr>
        <p:spPr>
          <a:xfrm>
            <a:off x="7484745" y="7100530"/>
            <a:ext cx="5077539" cy="354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000"/>
              <a:buFont typeface="Roboto"/>
              <a:buNone/>
            </a:pPr>
            <a:r>
              <a:rPr b="0" i="1" lang="en-US" sz="10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Un buen sistema con un modelo medio suele superar a un mal sistema con un modelo excelente.</a:t>
            </a:r>
            <a:endParaRPr b="0" i="0" sz="100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/>
          <p:nvPr/>
        </p:nvSpPr>
        <p:spPr>
          <a:xfrm>
            <a:off x="777240" y="972979"/>
            <a:ext cx="6162199" cy="607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3800"/>
              <a:buFont typeface="Roboto Slab"/>
              <a:buNone/>
            </a:pPr>
            <a:r>
              <a:rPr b="0" i="0" lang="en-US" sz="3800" u="none" cap="none" strike="noStrik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Face API y Azure AI Vision</a:t>
            </a:r>
            <a:endParaRPr b="0" i="0" sz="3800" u="none" cap="none" strike="noStrike"/>
          </a:p>
        </p:txBody>
      </p:sp>
      <p:pic>
        <p:nvPicPr>
          <p:cNvPr descr="preencoded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865709"/>
            <a:ext cx="3722965" cy="230088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/>
          <p:nvPr/>
        </p:nvSpPr>
        <p:spPr>
          <a:xfrm>
            <a:off x="777240" y="4404360"/>
            <a:ext cx="2429113" cy="303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900"/>
              <a:buFont typeface="Roboto Slab"/>
              <a:buNone/>
            </a:pPr>
            <a:r>
              <a:rPr b="0" i="0" lang="en-US" sz="190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Azure AI Face API</a:t>
            </a:r>
            <a:endParaRPr b="0" i="0" sz="1900" u="none" cap="none" strike="noStrike"/>
          </a:p>
        </p:txBody>
      </p:sp>
      <p:sp>
        <p:nvSpPr>
          <p:cNvPr id="196" name="Google Shape;196;p21"/>
          <p:cNvSpPr/>
          <p:nvPr/>
        </p:nvSpPr>
        <p:spPr>
          <a:xfrm>
            <a:off x="777240" y="4822031"/>
            <a:ext cx="6419017" cy="15376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Detección, reconocimiento y análisis de rostros. Casos: control de acceso, verificación de identidad, desenfoque automático por privacidad. </a:t>
            </a:r>
            <a:r>
              <a:rPr b="1" i="0" lang="en-US" sz="15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Imprescindible:</a:t>
            </a:r>
            <a:r>
              <a:rPr b="0" i="0" lang="en-US" sz="15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enseñar ética, consentimiento, sesgos y requisitos legales. Si el problema se resuelve con QR/tarjeta/PIN, no usar reconocimiento facial.</a:t>
            </a:r>
            <a:endParaRPr b="0" i="0" sz="1500" u="none" cap="none" strike="noStrike"/>
          </a:p>
        </p:txBody>
      </p:sp>
      <p:pic>
        <p:nvPicPr>
          <p:cNvPr descr="preencoded.png" id="197" name="Google Shape;19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34024" y="1865709"/>
            <a:ext cx="3723084" cy="230100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/>
          <p:nvPr/>
        </p:nvSpPr>
        <p:spPr>
          <a:xfrm>
            <a:off x="7434024" y="4404479"/>
            <a:ext cx="2429113" cy="3036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900"/>
              <a:buFont typeface="Roboto Slab"/>
              <a:buNone/>
            </a:pPr>
            <a:r>
              <a:rPr b="0" i="0" lang="en-US" sz="190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Azure AI Vision</a:t>
            </a:r>
            <a:endParaRPr b="0" i="0" sz="1900" u="none" cap="none" strike="noStrike"/>
          </a:p>
        </p:txBody>
      </p:sp>
      <p:sp>
        <p:nvSpPr>
          <p:cNvPr id="199" name="Google Shape;199;p21"/>
          <p:cNvSpPr/>
          <p:nvPr/>
        </p:nvSpPr>
        <p:spPr>
          <a:xfrm>
            <a:off x="7434024" y="4822150"/>
            <a:ext cx="6419136" cy="12301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Análisis general de imágenes: etiquetado, detección de objetos, lectura de texto visual, moderación, accesibilidad. </a:t>
            </a:r>
            <a:r>
              <a:rPr b="1" i="0" lang="en-US" sz="15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Diferencia clave:</a:t>
            </a:r>
            <a:r>
              <a:rPr b="0" i="0" lang="en-US" sz="15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 Vision analiza imágenes en general; Document Intelligence se especializa en documentos y estructura documental (tablas, clave-valor).</a:t>
            </a:r>
            <a:endParaRPr b="0" i="0" sz="1500" u="none" cap="none" strike="noStrike"/>
          </a:p>
        </p:txBody>
      </p:sp>
      <p:sp>
        <p:nvSpPr>
          <p:cNvPr id="200" name="Google Shape;200;p21"/>
          <p:cNvSpPr/>
          <p:nvPr/>
        </p:nvSpPr>
        <p:spPr>
          <a:xfrm>
            <a:off x="777240" y="6573679"/>
            <a:ext cx="13075920" cy="1122283"/>
          </a:xfrm>
          <a:prstGeom prst="roundRect">
            <a:avLst>
              <a:gd fmla="val 2597" name="adj"/>
            </a:avLst>
          </a:prstGeom>
          <a:solidFill>
            <a:srgbClr val="08254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1" name="Google Shape;20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50" y="6867525"/>
            <a:ext cx="242888" cy="19431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/>
          <p:nvPr/>
        </p:nvSpPr>
        <p:spPr>
          <a:xfrm>
            <a:off x="1408748" y="6812518"/>
            <a:ext cx="12250103" cy="6150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Roboto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Vision permite resolver muchos casos con APIs preentrenadas (puesta en marcha rápida). Entrenar un modelo propio da mejor ajuste en dominios específicos, pero requiere dataset, etiquetado, evaluación e infraestructura.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/>
          <p:nvPr/>
        </p:nvSpPr>
        <p:spPr>
          <a:xfrm>
            <a:off x="567809" y="1221581"/>
            <a:ext cx="8008382" cy="8872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2750"/>
              <a:buFont typeface="Roboto Slab"/>
              <a:buNone/>
            </a:pPr>
            <a:r>
              <a:rPr b="0" i="0" lang="en-US" sz="2750" u="none" cap="none" strike="noStrik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Seguridad, Cumplimiento, Costes y Buenas Prácticas</a:t>
            </a:r>
            <a:endParaRPr b="0" i="0" sz="2750" u="none" cap="none" strike="noStrike"/>
          </a:p>
        </p:txBody>
      </p:sp>
      <p:pic>
        <p:nvPicPr>
          <p:cNvPr descr="preencoded.png" id="210" name="Google Shape;21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809" y="2261116"/>
            <a:ext cx="354806" cy="354806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/>
          <p:nvPr/>
        </p:nvSpPr>
        <p:spPr>
          <a:xfrm>
            <a:off x="567809" y="2742724"/>
            <a:ext cx="1820942" cy="221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Seguridad e identidad</a:t>
            </a:r>
            <a:endParaRPr b="0" i="0" sz="1350" u="none" cap="none" strike="noStrike"/>
          </a:p>
        </p:txBody>
      </p:sp>
      <p:sp>
        <p:nvSpPr>
          <p:cNvPr id="212" name="Google Shape;212;p22"/>
          <p:cNvSpPr/>
          <p:nvPr/>
        </p:nvSpPr>
        <p:spPr>
          <a:xfrm>
            <a:off x="567809" y="3025259"/>
            <a:ext cx="8008382" cy="1946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Eje central: suscripción, resource group, roles RBAC, Key Vault, redes privadas y auditoría. </a:t>
            </a:r>
            <a:r>
              <a:rPr b="1" i="0" lang="en-US" sz="11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Nunca dejar claves en el código.</a:t>
            </a:r>
            <a:endParaRPr b="0" i="0" sz="1100" u="none" cap="none" strike="noStrike"/>
          </a:p>
        </p:txBody>
      </p:sp>
      <p:pic>
        <p:nvPicPr>
          <p:cNvPr descr="preencoded.png" id="213" name="Google Shape;21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7809" y="3422928"/>
            <a:ext cx="354806" cy="354806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/>
          <p:nvPr/>
        </p:nvSpPr>
        <p:spPr>
          <a:xfrm>
            <a:off x="567809" y="3904536"/>
            <a:ext cx="1774388" cy="221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Costes</a:t>
            </a:r>
            <a:endParaRPr b="0" i="0" sz="1350" u="none" cap="none" strike="noStrike"/>
          </a:p>
        </p:txBody>
      </p:sp>
      <p:sp>
        <p:nvSpPr>
          <p:cNvPr id="215" name="Google Shape;215;p22"/>
          <p:cNvSpPr/>
          <p:nvPr/>
        </p:nvSpPr>
        <p:spPr>
          <a:xfrm>
            <a:off x="567809" y="4187071"/>
            <a:ext cx="8008382" cy="389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No es "cara" ni "barata" por definición. Error típico: dejar recursos encendidos. Usar presupuestos, alertas, apagado automático y entornos de prueba separados.</a:t>
            </a:r>
            <a:endParaRPr b="0" i="0" sz="1100" u="none" cap="none" strike="noStrike"/>
          </a:p>
        </p:txBody>
      </p:sp>
      <p:pic>
        <p:nvPicPr>
          <p:cNvPr descr="preencoded.png" id="216" name="Google Shape;21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7809" y="4779407"/>
            <a:ext cx="354806" cy="354806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2"/>
          <p:cNvSpPr/>
          <p:nvPr/>
        </p:nvSpPr>
        <p:spPr>
          <a:xfrm>
            <a:off x="567809" y="5261015"/>
            <a:ext cx="1774388" cy="221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Cumplimiento</a:t>
            </a:r>
            <a:endParaRPr b="0" i="0" sz="1350" u="none" cap="none" strike="noStrike"/>
          </a:p>
        </p:txBody>
      </p:sp>
      <p:sp>
        <p:nvSpPr>
          <p:cNvPr id="218" name="Google Shape;218;p22"/>
          <p:cNvSpPr/>
          <p:nvPr/>
        </p:nvSpPr>
        <p:spPr>
          <a:xfrm>
            <a:off x="567809" y="5543550"/>
            <a:ext cx="8008382" cy="389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Analizar si los datos contienen información personal antes de subirlos. En docencia, usar datasets sintéticos o anonimizados siempre que sea posible.</a:t>
            </a:r>
            <a:endParaRPr b="0" i="0" sz="1100" u="none" cap="none" strike="noStrike"/>
          </a:p>
        </p:txBody>
      </p:sp>
      <p:pic>
        <p:nvPicPr>
          <p:cNvPr descr="preencoded.png" id="219" name="Google Shape;219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7809" y="6135886"/>
            <a:ext cx="354806" cy="35480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/>
          <p:nvPr/>
        </p:nvSpPr>
        <p:spPr>
          <a:xfrm>
            <a:off x="567809" y="6617494"/>
            <a:ext cx="1774388" cy="2216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350"/>
              <a:buFont typeface="Roboto Slab"/>
              <a:buNone/>
            </a:pPr>
            <a:r>
              <a:rPr b="0" i="0" lang="en-US" sz="13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Observabilidad</a:t>
            </a:r>
            <a:endParaRPr b="0" i="0" sz="1350" u="none" cap="none" strike="noStrike"/>
          </a:p>
        </p:txBody>
      </p:sp>
      <p:sp>
        <p:nvSpPr>
          <p:cNvPr id="221" name="Google Shape;221;p22"/>
          <p:cNvSpPr/>
          <p:nvPr/>
        </p:nvSpPr>
        <p:spPr>
          <a:xfrm>
            <a:off x="567809" y="6900029"/>
            <a:ext cx="8008382" cy="3893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100"/>
              <a:buFont typeface="Roboto"/>
              <a:buNone/>
            </a:pPr>
            <a:r>
              <a:rPr b="0" i="0" lang="en-US" sz="110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Registrar entrada, salida, latencia, errores, consumo y versión del modelo. Sin observabilidad no hay forma de mejorar ni auditar.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"/>
          <p:cNvSpPr/>
          <p:nvPr/>
        </p:nvSpPr>
        <p:spPr>
          <a:xfrm>
            <a:off x="793790" y="1386126"/>
            <a:ext cx="8240078" cy="620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3900"/>
              <a:buFont typeface="Roboto Slab"/>
              <a:buNone/>
            </a:pPr>
            <a:r>
              <a:rPr b="0" i="0" lang="en-US" sz="3900" u="none" cap="none" strike="noStrik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Casos de Uso (Ejemplos)</a:t>
            </a:r>
            <a:endParaRPr b="0" i="0" sz="3900" u="none" cap="none" strike="noStrike"/>
          </a:p>
        </p:txBody>
      </p:sp>
      <p:sp>
        <p:nvSpPr>
          <p:cNvPr id="228" name="Google Shape;228;p23"/>
          <p:cNvSpPr/>
          <p:nvPr/>
        </p:nvSpPr>
        <p:spPr>
          <a:xfrm>
            <a:off x="793790" y="2601516"/>
            <a:ext cx="6422231" cy="2099191"/>
          </a:xfrm>
          <a:prstGeom prst="roundRect">
            <a:avLst>
              <a:gd fmla="val 5227" name="adj"/>
            </a:avLst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578656"/>
            <a:ext cx="6422231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0" name="Google Shape;2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7249" y="2303859"/>
            <a:ext cx="595313" cy="595313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/>
          <p:nvPr/>
        </p:nvSpPr>
        <p:spPr>
          <a:xfrm>
            <a:off x="1015008" y="3097649"/>
            <a:ext cx="3304223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950"/>
              <a:buFont typeface="Roboto Slab"/>
              <a:buNone/>
            </a:pPr>
            <a:r>
              <a:rPr b="0" i="0" lang="en-US" sz="19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Procesado de facturas + ERP</a:t>
            </a:r>
            <a:endParaRPr b="0" i="0" sz="1950" u="none" cap="none" strike="noStrike"/>
          </a:p>
        </p:txBody>
      </p:sp>
      <p:sp>
        <p:nvSpPr>
          <p:cNvPr id="232" name="Google Shape;232;p23"/>
          <p:cNvSpPr/>
          <p:nvPr/>
        </p:nvSpPr>
        <p:spPr>
          <a:xfrm>
            <a:off x="1015008" y="3526869"/>
            <a:ext cx="5979795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Subir PDF → Document Intelligence extrae campos → validación → base de datos → Azure OpenAI detecta anomalías → dashboard. Variante: ERP y BD on-premise.</a:t>
            </a:r>
            <a:endParaRPr b="0" i="0" sz="1550" u="none" cap="none" strike="noStrike"/>
          </a:p>
        </p:txBody>
      </p:sp>
      <p:sp>
        <p:nvSpPr>
          <p:cNvPr id="233" name="Google Shape;233;p23"/>
          <p:cNvSpPr/>
          <p:nvPr/>
        </p:nvSpPr>
        <p:spPr>
          <a:xfrm>
            <a:off x="7414379" y="2601516"/>
            <a:ext cx="6422231" cy="2099191"/>
          </a:xfrm>
          <a:prstGeom prst="roundRect">
            <a:avLst>
              <a:gd fmla="val 5227" name="adj"/>
            </a:avLst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4" name="Google Shape;23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4379" y="2578656"/>
            <a:ext cx="6422231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5" name="Google Shape;23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27838" y="2303859"/>
            <a:ext cx="595313" cy="595313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/>
          <p:nvPr/>
        </p:nvSpPr>
        <p:spPr>
          <a:xfrm>
            <a:off x="7635597" y="3097649"/>
            <a:ext cx="3074908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950"/>
              <a:buFont typeface="Roboto Slab"/>
              <a:buNone/>
            </a:pPr>
            <a:r>
              <a:rPr b="0" i="0" lang="en-US" sz="19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Asistente sobre normativa</a:t>
            </a:r>
            <a:endParaRPr b="0" i="0" sz="1950" u="none" cap="none" strike="noStrike"/>
          </a:p>
        </p:txBody>
      </p:sp>
      <p:sp>
        <p:nvSpPr>
          <p:cNvPr id="237" name="Google Shape;237;p23"/>
          <p:cNvSpPr/>
          <p:nvPr/>
        </p:nvSpPr>
        <p:spPr>
          <a:xfrm>
            <a:off x="7635597" y="3526869"/>
            <a:ext cx="5979795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Repositorio de documentos → indexación y chunking → Azure OpenAI con RAG → API backend → interfaz web. Comparar con LLM local en latencia, coste y calidad.</a:t>
            </a:r>
            <a:endParaRPr b="0" i="0" sz="1550" u="none" cap="none" strike="noStrike"/>
          </a:p>
        </p:txBody>
      </p:sp>
      <p:sp>
        <p:nvSpPr>
          <p:cNvPr id="238" name="Google Shape;238;p23"/>
          <p:cNvSpPr/>
          <p:nvPr/>
        </p:nvSpPr>
        <p:spPr>
          <a:xfrm>
            <a:off x="793790" y="5196721"/>
            <a:ext cx="6422231" cy="2099191"/>
          </a:xfrm>
          <a:prstGeom prst="roundRect">
            <a:avLst>
              <a:gd fmla="val 5227" name="adj"/>
            </a:avLst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9" name="Google Shape;23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5173861"/>
            <a:ext cx="6422231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0" name="Google Shape;24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7249" y="4899065"/>
            <a:ext cx="595313" cy="595313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/>
          <p:nvPr/>
        </p:nvSpPr>
        <p:spPr>
          <a:xfrm>
            <a:off x="1015008" y="5692854"/>
            <a:ext cx="4569023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950"/>
              <a:buFont typeface="Roboto Slab"/>
              <a:buNone/>
            </a:pPr>
            <a:r>
              <a:rPr b="0" i="0" lang="en-US" sz="19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Clasificación de imágenes y privacidad</a:t>
            </a:r>
            <a:endParaRPr b="0" i="0" sz="1950" u="none" cap="none" strike="noStrike"/>
          </a:p>
        </p:txBody>
      </p:sp>
      <p:sp>
        <p:nvSpPr>
          <p:cNvPr id="242" name="Google Shape;242;p23"/>
          <p:cNvSpPr/>
          <p:nvPr/>
        </p:nvSpPr>
        <p:spPr>
          <a:xfrm>
            <a:off x="1015008" y="6122075"/>
            <a:ext cx="5979795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Azure Vision analiza imágenes; Face API detecta rostros para desenfocar antes de almacenar. Ideal para debatir privacidad y diseño responsable.</a:t>
            </a:r>
            <a:endParaRPr b="0" i="0" sz="1550" u="none" cap="none" strike="noStrike"/>
          </a:p>
        </p:txBody>
      </p:sp>
      <p:sp>
        <p:nvSpPr>
          <p:cNvPr id="243" name="Google Shape;243;p23"/>
          <p:cNvSpPr/>
          <p:nvPr/>
        </p:nvSpPr>
        <p:spPr>
          <a:xfrm>
            <a:off x="7414379" y="5196721"/>
            <a:ext cx="6422231" cy="2099191"/>
          </a:xfrm>
          <a:prstGeom prst="roundRect">
            <a:avLst>
              <a:gd fmla="val 5227" name="adj"/>
            </a:avLst>
          </a:prstGeom>
          <a:solidFill>
            <a:srgbClr val="2027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4" name="Google Shape;24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14379" y="5173861"/>
            <a:ext cx="6422231" cy="91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45" name="Google Shape;24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27838" y="4899065"/>
            <a:ext cx="595313" cy="595313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/>
          <p:cNvSpPr/>
          <p:nvPr/>
        </p:nvSpPr>
        <p:spPr>
          <a:xfrm>
            <a:off x="7635597" y="5692854"/>
            <a:ext cx="2886313" cy="31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950"/>
              <a:buFont typeface="Roboto Slab"/>
              <a:buNone/>
            </a:pPr>
            <a:r>
              <a:rPr b="0" i="0" lang="en-US" sz="1950" u="none" cap="none" strike="noStrike">
                <a:solidFill>
                  <a:srgbClr val="D6E5EF"/>
                </a:solidFill>
                <a:latin typeface="Roboto Slab"/>
                <a:ea typeface="Roboto Slab"/>
                <a:cs typeface="Roboto Slab"/>
                <a:sym typeface="Roboto Slab"/>
              </a:rPr>
              <a:t>Pipeline de ML completo</a:t>
            </a:r>
            <a:endParaRPr b="0" i="0" sz="1950" u="none" cap="none" strike="noStrike"/>
          </a:p>
        </p:txBody>
      </p:sp>
      <p:sp>
        <p:nvSpPr>
          <p:cNvPr id="247" name="Google Shape;247;p23"/>
          <p:cNvSpPr/>
          <p:nvPr/>
        </p:nvSpPr>
        <p:spPr>
          <a:xfrm>
            <a:off x="7635597" y="6122075"/>
            <a:ext cx="5979795" cy="9526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None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Dataset → experimentos en Azure ML → registro de modelo → endpoint → cliente → logs y monitorización. Enseña ciclo de vida y MLOps completo.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4"/>
          <p:cNvSpPr/>
          <p:nvPr/>
        </p:nvSpPr>
        <p:spPr>
          <a:xfrm>
            <a:off x="793804" y="2170500"/>
            <a:ext cx="124410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76B9FF"/>
              </a:buClr>
              <a:buSzPts val="3900"/>
              <a:buFont typeface="Roboto Slab"/>
              <a:buNone/>
            </a:pPr>
            <a:r>
              <a:rPr b="0" i="0" lang="en-US" sz="3900" u="none" cap="none" strike="noStrik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Errores Frecuentes </a:t>
            </a:r>
            <a:r>
              <a:rPr lang="en-US" sz="3900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y </a:t>
            </a:r>
            <a:r>
              <a:rPr b="0" i="0" lang="en-US" sz="3900" u="none" cap="none" strike="noStrik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Recomendaciones</a:t>
            </a:r>
            <a:endParaRPr b="0" i="0" sz="3900" u="none" cap="none" strike="noStrike"/>
          </a:p>
        </p:txBody>
      </p:sp>
      <p:sp>
        <p:nvSpPr>
          <p:cNvPr id="254" name="Google Shape;254;p24"/>
          <p:cNvSpPr/>
          <p:nvPr/>
        </p:nvSpPr>
        <p:spPr>
          <a:xfrm>
            <a:off x="650915" y="3088243"/>
            <a:ext cx="6565106" cy="3423166"/>
          </a:xfrm>
          <a:prstGeom prst="roundRect">
            <a:avLst>
              <a:gd fmla="val 870" name="adj"/>
            </a:avLst>
          </a:prstGeom>
          <a:solidFill>
            <a:srgbClr val="66A8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849276" y="3286600"/>
            <a:ext cx="40008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Roboto Slab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❌ Errores frecuentes</a:t>
            </a:r>
            <a:endParaRPr b="0" i="0" sz="1950" u="none" cap="none" strike="noStrike"/>
          </a:p>
        </p:txBody>
      </p:sp>
      <p:sp>
        <p:nvSpPr>
          <p:cNvPr id="256" name="Google Shape;256;p24"/>
          <p:cNvSpPr/>
          <p:nvPr/>
        </p:nvSpPr>
        <p:spPr>
          <a:xfrm>
            <a:off x="849273" y="3802737"/>
            <a:ext cx="6168390" cy="26392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Empezar por la API sin definir el problema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validar calidad del dato de entrada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Confundir demo con producción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medir coste/latencia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Guardar claves en código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versionar prompts/modelos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No diseñar fallback ni revisión humana</a:t>
            </a:r>
            <a:endParaRPr b="0" i="0" sz="1550" u="none" cap="none" strike="noStrike"/>
          </a:p>
        </p:txBody>
      </p:sp>
      <p:sp>
        <p:nvSpPr>
          <p:cNvPr id="257" name="Google Shape;257;p24"/>
          <p:cNvSpPr/>
          <p:nvPr/>
        </p:nvSpPr>
        <p:spPr>
          <a:xfrm>
            <a:off x="7564875" y="3286600"/>
            <a:ext cx="40656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Roboto Slab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Roboto Slab"/>
                <a:ea typeface="Roboto Slab"/>
                <a:cs typeface="Roboto Slab"/>
                <a:sym typeface="Roboto Slab"/>
              </a:rPr>
              <a:t>✅</a:t>
            </a:r>
            <a:r>
              <a:rPr b="0" i="0" lang="en-US" sz="1950" u="none" cap="none" strike="noStrike">
                <a:solidFill>
                  <a:srgbClr val="76B9FF"/>
                </a:solidFill>
                <a:latin typeface="Roboto Slab"/>
                <a:ea typeface="Roboto Slab"/>
                <a:cs typeface="Roboto Slab"/>
                <a:sym typeface="Roboto Slab"/>
              </a:rPr>
              <a:t> Recomendaciones</a:t>
            </a:r>
            <a:endParaRPr b="0" i="0" sz="1950" u="none" cap="none" strike="noStrike"/>
          </a:p>
        </p:txBody>
      </p:sp>
      <p:sp>
        <p:nvSpPr>
          <p:cNvPr id="258" name="Google Shape;258;p24"/>
          <p:cNvSpPr/>
          <p:nvPr/>
        </p:nvSpPr>
        <p:spPr>
          <a:xfrm>
            <a:off x="7564874" y="3802737"/>
            <a:ext cx="6279356" cy="18653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Definir caso de uso + KPI, empezar con piloto pequeño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Medir precisión/coste/latencia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Separar entornos dev/test/prod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Crear manejo de errores y reintentos</a:t>
            </a:r>
            <a:endParaRPr b="0" i="0" sz="1550" u="none" cap="none" strike="noStrike"/>
          </a:p>
          <a:p>
            <a:pPr indent="-342900" lvl="0" marL="342900" marR="0" rtl="0" algn="l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D6E5EF"/>
              </a:buClr>
              <a:buSzPts val="1550"/>
              <a:buFont typeface="Roboto"/>
              <a:buChar char="•"/>
            </a:pPr>
            <a:r>
              <a:rPr b="0" i="0" lang="en-US" sz="1550" u="none" cap="none" strike="noStrike">
                <a:solidFill>
                  <a:srgbClr val="D6E5EF"/>
                </a:solidFill>
                <a:latin typeface="Roboto"/>
                <a:ea typeface="Roboto"/>
                <a:cs typeface="Roboto"/>
                <a:sym typeface="Roboto"/>
              </a:rPr>
              <a:t>Planificar logs, alertas, seguridad y backup</a:t>
            </a:r>
            <a:endParaRPr b="0" i="0" sz="155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